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01" r:id="rId5"/>
    <p:sldId id="347" r:id="rId6"/>
    <p:sldId id="257" r:id="rId7"/>
    <p:sldId id="323" r:id="rId8"/>
    <p:sldId id="394" r:id="rId9"/>
    <p:sldId id="377" r:id="rId10"/>
    <p:sldId id="325" r:id="rId11"/>
    <p:sldId id="413" r:id="rId12"/>
    <p:sldId id="361" r:id="rId13"/>
    <p:sldId id="362" r:id="rId14"/>
    <p:sldId id="414" r:id="rId15"/>
    <p:sldId id="418" r:id="rId16"/>
    <p:sldId id="420" r:id="rId17"/>
    <p:sldId id="419" r:id="rId18"/>
    <p:sldId id="421" r:id="rId19"/>
    <p:sldId id="436" r:id="rId20"/>
    <p:sldId id="365" r:id="rId21"/>
    <p:sldId id="416" r:id="rId22"/>
    <p:sldId id="417" r:id="rId23"/>
    <p:sldId id="452" r:id="rId24"/>
    <p:sldId id="451" r:id="rId25"/>
    <p:sldId id="453" r:id="rId26"/>
    <p:sldId id="336" r:id="rId27"/>
    <p:sldId id="367" r:id="rId28"/>
    <p:sldId id="455" r:id="rId29"/>
    <p:sldId id="368" r:id="rId30"/>
    <p:sldId id="462" r:id="rId31"/>
    <p:sldId id="463" r:id="rId32"/>
    <p:sldId id="456" r:id="rId33"/>
    <p:sldId id="457" r:id="rId34"/>
    <p:sldId id="464" r:id="rId35"/>
    <p:sldId id="458" r:id="rId36"/>
    <p:sldId id="459" r:id="rId37"/>
    <p:sldId id="461" r:id="rId38"/>
    <p:sldId id="467" r:id="rId39"/>
    <p:sldId id="338" r:id="rId40"/>
    <p:sldId id="478" r:id="rId41"/>
    <p:sldId id="479" r:id="rId42"/>
    <p:sldId id="480" r:id="rId43"/>
    <p:sldId id="488" r:id="rId44"/>
    <p:sldId id="491" r:id="rId45"/>
    <p:sldId id="489" r:id="rId46"/>
    <p:sldId id="505" r:id="rId47"/>
    <p:sldId id="507" r:id="rId48"/>
    <p:sldId id="481" r:id="rId49"/>
    <p:sldId id="506" r:id="rId50"/>
    <p:sldId id="508" r:id="rId51"/>
    <p:sldId id="509" r:id="rId52"/>
    <p:sldId id="510" r:id="rId53"/>
    <p:sldId id="482" r:id="rId54"/>
    <p:sldId id="490" r:id="rId55"/>
    <p:sldId id="511" r:id="rId56"/>
    <p:sldId id="513" r:id="rId57"/>
    <p:sldId id="486" r:id="rId58"/>
    <p:sldId id="514" r:id="rId59"/>
    <p:sldId id="466" r:id="rId60"/>
    <p:sldId id="525" r:id="rId61"/>
    <p:sldId id="526" r:id="rId62"/>
    <p:sldId id="530" r:id="rId63"/>
    <p:sldId id="527" r:id="rId64"/>
    <p:sldId id="528" r:id="rId65"/>
    <p:sldId id="529" r:id="rId66"/>
    <p:sldId id="534" r:id="rId67"/>
    <p:sldId id="533" r:id="rId68"/>
    <p:sldId id="340" r:id="rId69"/>
    <p:sldId id="538" r:id="rId70"/>
    <p:sldId id="539" r:id="rId71"/>
    <p:sldId id="540" r:id="rId72"/>
    <p:sldId id="545" r:id="rId73"/>
    <p:sldId id="541" r:id="rId74"/>
  </p:sldIdLst>
  <p:sldSz cx="12192000" cy="6858000"/>
  <p:notesSz cx="6858000" cy="9144000"/>
  <p:custDataLst>
    <p:tags r:id="rId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08" userDrawn="1">
          <p15:clr>
            <a:srgbClr val="A4A3A4"/>
          </p15:clr>
        </p15:guide>
        <p15:guide id="2" pos="7528" userDrawn="1">
          <p15:clr>
            <a:srgbClr val="A4A3A4"/>
          </p15:clr>
        </p15:guide>
        <p15:guide id="3" orient="horz" pos="1622" userDrawn="1">
          <p15:clr>
            <a:srgbClr val="A4A3A4"/>
          </p15:clr>
        </p15:guide>
        <p15:guide id="4" orient="horz" pos="520" userDrawn="1">
          <p15:clr>
            <a:srgbClr val="A4A3A4"/>
          </p15:clr>
        </p15:guide>
        <p15:guide id="7" pos="1808" userDrawn="1">
          <p15:clr>
            <a:srgbClr val="A4A3A4"/>
          </p15:clr>
        </p15:guide>
        <p15:guide id="8" pos="1941" userDrawn="1">
          <p15:clr>
            <a:srgbClr val="A4A3A4"/>
          </p15:clr>
        </p15:guide>
        <p15:guide id="9" pos="3924" userDrawn="1">
          <p15:clr>
            <a:srgbClr val="A4A3A4"/>
          </p15:clr>
        </p15:guide>
        <p15:guide id="10" pos="10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B62A"/>
    <a:srgbClr val="1E1E1E"/>
    <a:srgbClr val="5941A9"/>
    <a:srgbClr val="3F3F3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6" autoAdjust="0"/>
    <p:restoredTop sz="96071" autoAdjust="0"/>
  </p:normalViewPr>
  <p:slideViewPr>
    <p:cSldViewPr snapToGrid="0" showGuides="1">
      <p:cViewPr varScale="1">
        <p:scale>
          <a:sx n="78" d="100"/>
          <a:sy n="78" d="100"/>
        </p:scale>
        <p:origin x="1070" y="58"/>
      </p:cViewPr>
      <p:guideLst>
        <p:guide pos="608"/>
        <p:guide pos="7528"/>
        <p:guide orient="horz" pos="1622"/>
        <p:guide orient="horz" pos="520"/>
        <p:guide pos="1808"/>
        <p:guide pos="1941"/>
        <p:guide pos="3924"/>
        <p:guide pos="10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8" Type="http://schemas.openxmlformats.org/officeDocument/2006/relationships/tags" Target="tags/tag25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251E4-13F5-478F-A055-A94E3EC8E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06DD-BB4B-4738-86C2-BD411520A8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6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56381"/>
            <a:ext cx="10378818" cy="823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7627"/>
            <a:ext cx="3932237" cy="10433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18442"/>
            <a:ext cx="3932237" cy="43426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4800" y="324229"/>
            <a:ext cx="7315200" cy="667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42250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22.xml"/><Relationship Id="rId15" Type="http://schemas.openxmlformats.org/officeDocument/2006/relationships/image" Target="../media/image32.svg"/><Relationship Id="rId14" Type="http://schemas.openxmlformats.org/officeDocument/2006/relationships/image" Target="../media/image31.png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image" Target="../media/image3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spc="300">
                <a:solidFill>
                  <a:schemeClr val="bg1"/>
                </a:solidFill>
              </a:rPr>
              <a:t> Spring Cloud </a:t>
            </a:r>
            <a:r>
              <a:rPr lang="zh-CN" altLang="en-US" b="1" spc="300">
                <a:solidFill>
                  <a:schemeClr val="bg1"/>
                </a:solidFill>
              </a:rPr>
              <a:t>快速通关</a:t>
            </a:r>
            <a:endParaRPr lang="zh-CN" altLang="en-US" b="1" spc="3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r"/>
            <a:r>
              <a:rPr lang="zh-CN" altLang="en-US"/>
              <a:t>分布式系统一站式解决方案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965" y="2372360"/>
            <a:ext cx="1137716" cy="1137716"/>
          </a:xfrm>
          <a:prstGeom prst="rect">
            <a:avLst/>
          </a:prstGeom>
        </p:spPr>
      </p:pic>
      <p:sp>
        <p:nvSpPr>
          <p:cNvPr id="4" name="矩形标注 3"/>
          <p:cNvSpPr/>
          <p:nvPr/>
        </p:nvSpPr>
        <p:spPr>
          <a:xfrm>
            <a:off x="9083675" y="2075180"/>
            <a:ext cx="1446530" cy="297180"/>
          </a:xfrm>
          <a:prstGeom prst="wedgeRectCallout">
            <a:avLst>
              <a:gd name="adj1" fmla="val -38718"/>
              <a:gd name="adj2" fmla="val 81837"/>
            </a:avLst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速通系列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993140" y="1658620"/>
            <a:ext cx="10296525" cy="42818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课程内容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443095" y="991235"/>
            <a:ext cx="2778760" cy="5715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分布式基础</a:t>
            </a:r>
            <a:endParaRPr lang="zh-CN" altLang="en-US" sz="2400"/>
          </a:p>
        </p:txBody>
      </p:sp>
      <p:sp>
        <p:nvSpPr>
          <p:cNvPr id="6" name="矩形 5"/>
          <p:cNvSpPr/>
          <p:nvPr/>
        </p:nvSpPr>
        <p:spPr>
          <a:xfrm>
            <a:off x="4443095" y="1817370"/>
            <a:ext cx="2778760" cy="5715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Nacos</a:t>
            </a:r>
            <a:endParaRPr lang="en-US" altLang="zh-CN" sz="2400"/>
          </a:p>
        </p:txBody>
      </p:sp>
      <p:sp>
        <p:nvSpPr>
          <p:cNvPr id="7" name="矩形 6"/>
          <p:cNvSpPr/>
          <p:nvPr/>
        </p:nvSpPr>
        <p:spPr>
          <a:xfrm>
            <a:off x="4443095" y="2643505"/>
            <a:ext cx="2778760" cy="5715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OpenFeign</a:t>
            </a:r>
            <a:endParaRPr lang="en-US" altLang="zh-CN" sz="2400"/>
          </a:p>
        </p:txBody>
      </p:sp>
      <p:sp>
        <p:nvSpPr>
          <p:cNvPr id="8" name="矩形 7"/>
          <p:cNvSpPr/>
          <p:nvPr/>
        </p:nvSpPr>
        <p:spPr>
          <a:xfrm>
            <a:off x="4443095" y="3469640"/>
            <a:ext cx="2778760" cy="5715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Sentinel</a:t>
            </a:r>
            <a:endParaRPr lang="en-US" altLang="zh-CN" sz="2400"/>
          </a:p>
        </p:txBody>
      </p:sp>
      <p:sp>
        <p:nvSpPr>
          <p:cNvPr id="9" name="矩形 8"/>
          <p:cNvSpPr/>
          <p:nvPr/>
        </p:nvSpPr>
        <p:spPr>
          <a:xfrm>
            <a:off x="4443095" y="4295775"/>
            <a:ext cx="2778760" cy="5715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Gateway</a:t>
            </a:r>
            <a:endParaRPr lang="en-US" altLang="zh-CN" sz="2400"/>
          </a:p>
        </p:txBody>
      </p:sp>
      <p:sp>
        <p:nvSpPr>
          <p:cNvPr id="10" name="矩形 9"/>
          <p:cNvSpPr/>
          <p:nvPr/>
        </p:nvSpPr>
        <p:spPr>
          <a:xfrm>
            <a:off x="4443095" y="5121910"/>
            <a:ext cx="2778760" cy="5715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Seata</a:t>
            </a:r>
            <a:endParaRPr lang="en-US" altLang="zh-CN" sz="2400"/>
          </a:p>
        </p:txBody>
      </p:sp>
      <p:sp>
        <p:nvSpPr>
          <p:cNvPr id="12" name="矩形 11"/>
          <p:cNvSpPr/>
          <p:nvPr/>
        </p:nvSpPr>
        <p:spPr>
          <a:xfrm>
            <a:off x="1357630" y="3475990"/>
            <a:ext cx="2345055" cy="56515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Spring Cloud Alibaba</a:t>
            </a:r>
            <a:endParaRPr lang="en-US" altLang="zh-CN" b="1"/>
          </a:p>
        </p:txBody>
      </p:sp>
      <p:sp>
        <p:nvSpPr>
          <p:cNvPr id="13" name="矩形 12"/>
          <p:cNvSpPr/>
          <p:nvPr/>
        </p:nvSpPr>
        <p:spPr>
          <a:xfrm>
            <a:off x="8887460" y="3469640"/>
            <a:ext cx="1550670" cy="56515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Spring Cloud</a:t>
            </a:r>
            <a:endParaRPr lang="en-US" altLang="zh-CN" b="1"/>
          </a:p>
        </p:txBody>
      </p:sp>
      <p:cxnSp>
        <p:nvCxnSpPr>
          <p:cNvPr id="14" name="肘形连接符 13"/>
          <p:cNvCxnSpPr>
            <a:stCxn id="12" idx="0"/>
            <a:endCxn id="6" idx="1"/>
          </p:cNvCxnSpPr>
          <p:nvPr/>
        </p:nvCxnSpPr>
        <p:spPr>
          <a:xfrm rot="16200000">
            <a:off x="2800350" y="1833245"/>
            <a:ext cx="1372870" cy="1912620"/>
          </a:xfrm>
          <a:prstGeom prst="bentConnector2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12" idx="2"/>
            <a:endCxn id="10" idx="1"/>
          </p:cNvCxnSpPr>
          <p:nvPr/>
        </p:nvCxnSpPr>
        <p:spPr>
          <a:xfrm rot="5400000" flipV="1">
            <a:off x="2803525" y="3768090"/>
            <a:ext cx="1366520" cy="1912620"/>
          </a:xfrm>
          <a:prstGeom prst="bentConnector2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13" idx="0"/>
            <a:endCxn id="7" idx="3"/>
          </p:cNvCxnSpPr>
          <p:nvPr/>
        </p:nvCxnSpPr>
        <p:spPr>
          <a:xfrm rot="16200000" flipV="1">
            <a:off x="8172133" y="1978978"/>
            <a:ext cx="540385" cy="2440940"/>
          </a:xfrm>
          <a:prstGeom prst="bentConnector2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13" idx="2"/>
            <a:endCxn id="9" idx="3"/>
          </p:cNvCxnSpPr>
          <p:nvPr/>
        </p:nvCxnSpPr>
        <p:spPr>
          <a:xfrm rot="5400000">
            <a:off x="8168958" y="3087688"/>
            <a:ext cx="546735" cy="2440940"/>
          </a:xfrm>
          <a:prstGeom prst="bentConnector2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029700" y="1652905"/>
            <a:ext cx="2259965" cy="4502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FFC000"/>
                </a:solidFill>
              </a:rPr>
              <a:t>企业常用搭配方案</a:t>
            </a:r>
            <a:endParaRPr lang="zh-CN" altLang="en-US" b="1">
              <a:solidFill>
                <a:srgbClr val="FFC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92505" y="6036310"/>
            <a:ext cx="10297160" cy="65722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/>
              <a:t>分布式配套</a:t>
            </a:r>
            <a:endParaRPr lang="en-US" altLang="zh-CN" sz="2400"/>
          </a:p>
        </p:txBody>
      </p:sp>
      <p:cxnSp>
        <p:nvCxnSpPr>
          <p:cNvPr id="2" name="直接箭头连接符 1"/>
          <p:cNvCxnSpPr>
            <a:stCxn id="12" idx="3"/>
            <a:endCxn id="8" idx="1"/>
          </p:cNvCxnSpPr>
          <p:nvPr/>
        </p:nvCxnSpPr>
        <p:spPr>
          <a:xfrm flipV="1">
            <a:off x="3702685" y="3755390"/>
            <a:ext cx="740410" cy="317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931795" y="6141085"/>
            <a:ext cx="1511935" cy="43815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日志系统</a:t>
            </a:r>
            <a:endParaRPr lang="zh-CN" altLang="en-US" sz="2400"/>
          </a:p>
        </p:txBody>
      </p:sp>
      <p:sp>
        <p:nvSpPr>
          <p:cNvPr id="23" name="矩形 22"/>
          <p:cNvSpPr/>
          <p:nvPr/>
        </p:nvSpPr>
        <p:spPr>
          <a:xfrm>
            <a:off x="4684395" y="6141085"/>
            <a:ext cx="1511935" cy="43815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指标监控</a:t>
            </a:r>
            <a:endParaRPr lang="zh-CN" altLang="en-US" sz="2400"/>
          </a:p>
        </p:txBody>
      </p:sp>
      <p:sp>
        <p:nvSpPr>
          <p:cNvPr id="24" name="矩形 23"/>
          <p:cNvSpPr/>
          <p:nvPr/>
        </p:nvSpPr>
        <p:spPr>
          <a:xfrm>
            <a:off x="6436995" y="6141085"/>
            <a:ext cx="1511935" cy="43815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链路追踪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8189595" y="6141085"/>
            <a:ext cx="1511935" cy="43815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消息处理</a:t>
            </a:r>
            <a:endParaRPr lang="zh-CN" altLang="en-US" sz="2400"/>
          </a:p>
        </p:txBody>
      </p:sp>
      <p:sp>
        <p:nvSpPr>
          <p:cNvPr id="11" name="矩形 10"/>
          <p:cNvSpPr/>
          <p:nvPr/>
        </p:nvSpPr>
        <p:spPr>
          <a:xfrm>
            <a:off x="9942195" y="6141085"/>
            <a:ext cx="1005205" cy="43815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...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2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7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9" grpId="0" bldLvl="0" animBg="1"/>
      <p:bldP spid="10" grpId="0" bldLvl="0" animBg="1"/>
      <p:bldP spid="6" grpId="1" bldLvl="0" animBg="1"/>
      <p:bldP spid="10" grpId="1" bldLvl="0" animBg="1"/>
      <p:bldP spid="12" grpId="0" bldLvl="0" animBg="1"/>
      <p:bldP spid="7" grpId="1" bldLvl="0" animBg="1"/>
      <p:bldP spid="9" grpId="1" bldLvl="0" animBg="1"/>
      <p:bldP spid="13" grpId="0" bldLvl="0" animBg="1"/>
      <p:bldP spid="20" grpId="0" bldLvl="0" animBg="1"/>
      <p:bldP spid="21" grpId="0" bldLvl="0" animBg="1"/>
      <p:bldP spid="22" grpId="0" bldLvl="0" animBg="1"/>
      <p:bldP spid="8" grpId="0" bldLvl="0" animBg="1"/>
      <p:bldP spid="8" grpId="1" bldLvl="0" animBg="1"/>
      <p:bldP spid="4" grpId="0" bldLvl="0" animBg="1"/>
      <p:bldP spid="23" grpId="0" bldLvl="0" animBg="1"/>
      <p:bldP spid="24" grpId="0" bldLvl="0" animBg="1"/>
      <p:bldP spid="25" grpId="0" bldLvl="0" animBg="1"/>
      <p:bldP spid="1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课程特色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494020" y="2410460"/>
            <a:ext cx="1532890" cy="5092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通俗易懂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494020" y="3399790"/>
            <a:ext cx="1532890" cy="5092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图文搭配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37460" y="3399790"/>
            <a:ext cx="1532890" cy="5092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全程实操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537460" y="4338955"/>
            <a:ext cx="1532890" cy="5092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主次分明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494020" y="4338955"/>
            <a:ext cx="1532890" cy="5092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重点突出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537460" y="2410460"/>
            <a:ext cx="1532890" cy="5092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零基础上手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  </a:t>
            </a:r>
            <a:r>
              <a:rPr lang="zh-CN" altLang="en-US" b="1"/>
              <a:t>分布式基础</a:t>
            </a:r>
            <a:endParaRPr lang="en-US" altLang="zh-CN" b="1" spc="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3312795" y="1370330"/>
            <a:ext cx="2726690" cy="49904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86105" y="1370330"/>
            <a:ext cx="2726690" cy="49904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架构演进</a:t>
            </a:r>
            <a:r>
              <a:rPr lang="en-US" altLang="zh-CN"/>
              <a:t> - </a:t>
            </a:r>
            <a:r>
              <a:rPr lang="zh-CN" altLang="en-US"/>
              <a:t>核心概念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76985" y="187452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域名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6985" y="2604135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IP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276985" y="333375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节点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76985" y="4063365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应用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76985" y="479298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数据库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955415" y="187452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副本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955415" y="2604135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集群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955415" y="333375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网关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955415" y="4063365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负载均衡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955415" y="479298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扩缩容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39485" y="1370330"/>
            <a:ext cx="2777490" cy="49904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675755" y="187452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微服务</a:t>
            </a:r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675755" y="2604135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远程调用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675755" y="333375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注册中心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675755" y="4063365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配置中心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675755" y="479298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服务熔断</a:t>
            </a: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193165" y="5928360"/>
            <a:ext cx="1595120" cy="39116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单体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3857625" y="5928360"/>
            <a:ext cx="1595120" cy="39116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集群化</a:t>
            </a:r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63995" y="5928360"/>
            <a:ext cx="1595120" cy="39116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分布式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816975" y="1370330"/>
            <a:ext cx="2777490" cy="49904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403715" y="5928360"/>
            <a:ext cx="1595120" cy="39116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生态扩展</a:t>
            </a:r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9501505" y="187452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链路追踪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501505" y="2604135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日志收集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9501505" y="333375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指标监控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501505" y="4063365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消息处理</a:t>
            </a:r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9501505" y="4792980"/>
            <a:ext cx="1399540" cy="5969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自动化部署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环境准备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创建微服务架构项目</a:t>
            </a:r>
            <a:endParaRPr lang="zh-CN" altLang="en-US"/>
          </a:p>
          <a:p>
            <a:r>
              <a:rPr lang="zh-CN" altLang="en-US"/>
              <a:t>引入</a:t>
            </a:r>
            <a:r>
              <a:rPr lang="en-US" altLang="zh-CN"/>
              <a:t> SpringClould</a:t>
            </a:r>
            <a:r>
              <a:rPr lang="zh-CN" altLang="en-US"/>
              <a:t>、</a:t>
            </a:r>
            <a:r>
              <a:rPr lang="en-US" altLang="zh-CN"/>
              <a:t>Spring Cloud Alibaba </a:t>
            </a:r>
            <a:r>
              <a:rPr lang="zh-CN" altLang="en-US"/>
              <a:t>相关依赖</a:t>
            </a:r>
            <a:endParaRPr lang="zh-CN" altLang="en-US"/>
          </a:p>
          <a:p>
            <a:r>
              <a:rPr lang="zh-CN" altLang="en-US"/>
              <a:t>注意版本适配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992630" y="3331845"/>
          <a:ext cx="7241540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257425"/>
                <a:gridCol w="2851150"/>
              </a:tblGrid>
              <a:tr h="4381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SpringBoot</a:t>
                      </a:r>
                      <a:r>
                        <a:rPr lang="zh-CN" altLang="en-US"/>
                        <a:t>版本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SpringCloud</a:t>
                      </a:r>
                      <a:r>
                        <a:rPr lang="zh-CN" altLang="en-US"/>
                        <a:t>版本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SpringCloud Alibaba</a:t>
                      </a:r>
                      <a:r>
                        <a:rPr lang="zh-CN" altLang="en-US"/>
                        <a:t>版本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3.4.x +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2024.0.x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未适配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3.2.x - 3.3.x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2023.0.x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2023.0.*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3.0.2 - 3.2.x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2022.0.x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2022.0.*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2.6.x - 2.7.x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2021.0.x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2021.0.*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2.4.x - 2.5.x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2020.0.x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2020.0.*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2.3.x -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Hoxton/Greenwich -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2.2.* -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992630" y="6132830"/>
            <a:ext cx="724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https://github.com/alibaba/spring-cloud-alibaba/wiki/</a:t>
            </a:r>
            <a:r>
              <a:rPr lang="zh-CN" altLang="en-US">
                <a:solidFill>
                  <a:srgbClr val="FFC000"/>
                </a:solidFill>
              </a:rPr>
              <a:t>版本说明</a:t>
            </a:r>
            <a:endParaRPr lang="zh-CN" alt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版本选择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76905" y="2365375"/>
            <a:ext cx="2001520" cy="6235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FFC000"/>
                </a:solidFill>
              </a:rPr>
              <a:t>SpringBoot </a:t>
            </a:r>
            <a:endParaRPr lang="en-US" altLang="zh-CN"/>
          </a:p>
          <a:p>
            <a:pPr algn="ctr"/>
            <a:r>
              <a:rPr lang="en-US" altLang="zh-CN"/>
              <a:t>3.3.4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3176905" y="3117850"/>
            <a:ext cx="2001520" cy="6235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FFC000"/>
                </a:solidFill>
              </a:rPr>
              <a:t>SpringCloud </a:t>
            </a:r>
            <a:endParaRPr lang="en-US" altLang="zh-CN"/>
          </a:p>
          <a:p>
            <a:pPr algn="ctr"/>
            <a:r>
              <a:rPr lang="en-US" altLang="zh-CN"/>
              <a:t>2023.0.3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3176905" y="3870325"/>
            <a:ext cx="2001520" cy="6235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FFC000"/>
                </a:solidFill>
              </a:rPr>
              <a:t>SpringCloud Alibaba</a:t>
            </a:r>
            <a:r>
              <a:rPr lang="en-US" altLang="zh-CN"/>
              <a:t> 2023.0.3.2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7033260" y="2366010"/>
            <a:ext cx="2001520" cy="6235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FFC000"/>
                </a:solidFill>
              </a:rPr>
              <a:t>Nacos</a:t>
            </a:r>
            <a:endParaRPr lang="en-US" altLang="zh-CN"/>
          </a:p>
          <a:p>
            <a:pPr algn="ctr"/>
            <a:r>
              <a:rPr lang="en-US" altLang="zh-CN"/>
              <a:t>2.4.3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7033260" y="3118485"/>
            <a:ext cx="2001520" cy="6235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FFC000"/>
                </a:solidFill>
              </a:rPr>
              <a:t>Sentinel</a:t>
            </a:r>
            <a:endParaRPr lang="en-US" altLang="zh-CN"/>
          </a:p>
          <a:p>
            <a:pPr algn="ctr"/>
            <a:r>
              <a:rPr lang="en-US" altLang="zh-CN"/>
              <a:t>1.8.8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7033260" y="3870960"/>
            <a:ext cx="2000885" cy="62357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FFC000"/>
                </a:solidFill>
              </a:rPr>
              <a:t>Seata</a:t>
            </a:r>
            <a:endParaRPr lang="en-US" altLang="zh-CN"/>
          </a:p>
          <a:p>
            <a:pPr algn="ctr"/>
            <a:r>
              <a:rPr lang="en-US" altLang="zh-CN"/>
              <a:t>2.2.0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2230755" y="2366645"/>
            <a:ext cx="747395" cy="212725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框架版本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087110" y="2366645"/>
            <a:ext cx="747395" cy="21278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组件版本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 Nacos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注册中心、配置中心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注册</a:t>
            </a:r>
            <a:r>
              <a:rPr lang="zh-CN" altLang="en-US"/>
              <a:t>中心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577580" y="2466975"/>
            <a:ext cx="2461260" cy="7181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商品</a:t>
            </a:r>
            <a:r>
              <a:rPr lang="zh-CN" altLang="en-US"/>
              <a:t>服务</a:t>
            </a:r>
            <a:endParaRPr lang="zh-CN" altLang="en-US"/>
          </a:p>
          <a:p>
            <a:pPr algn="ctr"/>
            <a:r>
              <a:rPr lang="en-US" altLang="zh-CN"/>
              <a:t>service-product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10895" y="1968500"/>
            <a:ext cx="2461260" cy="7181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订单服务</a:t>
            </a:r>
            <a:endParaRPr lang="zh-CN" altLang="en-US"/>
          </a:p>
          <a:p>
            <a:pPr algn="ctr"/>
            <a:r>
              <a:rPr lang="en-US" altLang="zh-CN"/>
              <a:t>service-order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810895" y="4028440"/>
            <a:ext cx="2461260" cy="7181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订单服务</a:t>
            </a:r>
            <a:endParaRPr lang="zh-CN" altLang="en-US"/>
          </a:p>
          <a:p>
            <a:pPr algn="ctr"/>
            <a:r>
              <a:rPr lang="en-US" altLang="zh-CN"/>
              <a:t>service-order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810895" y="2998470"/>
            <a:ext cx="2461260" cy="7181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订单服务</a:t>
            </a:r>
            <a:endParaRPr lang="zh-CN" altLang="en-US"/>
          </a:p>
          <a:p>
            <a:pPr algn="ctr"/>
            <a:r>
              <a:rPr lang="en-US" altLang="zh-CN"/>
              <a:t>service-order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8577580" y="3357880"/>
            <a:ext cx="2461260" cy="7181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商品</a:t>
            </a:r>
            <a:r>
              <a:rPr lang="zh-CN" altLang="en-US"/>
              <a:t>服务</a:t>
            </a:r>
            <a:endParaRPr lang="zh-CN" altLang="en-US"/>
          </a:p>
          <a:p>
            <a:pPr algn="ctr"/>
            <a:r>
              <a:rPr lang="en-US" altLang="zh-CN"/>
              <a:t>service-product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8577580" y="4248785"/>
            <a:ext cx="2461260" cy="7181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商品</a:t>
            </a:r>
            <a:r>
              <a:rPr lang="zh-CN" altLang="en-US"/>
              <a:t>服务</a:t>
            </a:r>
            <a:endParaRPr lang="zh-CN" altLang="en-US"/>
          </a:p>
          <a:p>
            <a:pPr algn="ctr"/>
            <a:r>
              <a:rPr lang="en-US" altLang="zh-CN"/>
              <a:t>service-product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810895" y="5058410"/>
            <a:ext cx="2461260" cy="7181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订单服务</a:t>
            </a:r>
            <a:endParaRPr lang="zh-CN" altLang="en-US"/>
          </a:p>
          <a:p>
            <a:pPr algn="ctr"/>
            <a:r>
              <a:rPr lang="en-US" altLang="zh-CN"/>
              <a:t>service-order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099050" y="2853055"/>
            <a:ext cx="2059305" cy="18103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Na</a:t>
            </a:r>
            <a:r>
              <a:rPr lang="en-US" altLang="zh-CN"/>
              <a:t>cos</a:t>
            </a:r>
            <a:endParaRPr lang="en-US" altLang="zh-CN"/>
          </a:p>
          <a:p>
            <a:pPr algn="ctr"/>
            <a:r>
              <a:rPr lang="zh-CN" altLang="en-US"/>
              <a:t>注册</a:t>
            </a:r>
            <a:r>
              <a:rPr lang="zh-CN" altLang="en-US"/>
              <a:t>中心</a:t>
            </a:r>
            <a:endParaRPr lang="zh-CN" altLang="en-US"/>
          </a:p>
        </p:txBody>
      </p:sp>
      <p:cxnSp>
        <p:nvCxnSpPr>
          <p:cNvPr id="12" name="直接箭头连接符 11"/>
          <p:cNvCxnSpPr>
            <a:stCxn id="5" idx="3"/>
            <a:endCxn id="11" idx="1"/>
          </p:cNvCxnSpPr>
          <p:nvPr/>
        </p:nvCxnSpPr>
        <p:spPr>
          <a:xfrm>
            <a:off x="3272155" y="2327910"/>
            <a:ext cx="1826895" cy="143065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7" idx="3"/>
          </p:cNvCxnSpPr>
          <p:nvPr/>
        </p:nvCxnSpPr>
        <p:spPr>
          <a:xfrm>
            <a:off x="3272155" y="3357880"/>
            <a:ext cx="1826895" cy="41529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6" idx="3"/>
          </p:cNvCxnSpPr>
          <p:nvPr/>
        </p:nvCxnSpPr>
        <p:spPr>
          <a:xfrm flipV="1">
            <a:off x="3272155" y="3792220"/>
            <a:ext cx="1788795" cy="59563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0" idx="3"/>
          </p:cNvCxnSpPr>
          <p:nvPr/>
        </p:nvCxnSpPr>
        <p:spPr>
          <a:xfrm flipV="1">
            <a:off x="3272155" y="3820795"/>
            <a:ext cx="1788795" cy="159702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4" idx="1"/>
            <a:endCxn id="11" idx="3"/>
          </p:cNvCxnSpPr>
          <p:nvPr/>
        </p:nvCxnSpPr>
        <p:spPr>
          <a:xfrm flipH="1">
            <a:off x="7158355" y="2826385"/>
            <a:ext cx="1419225" cy="93218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1"/>
          </p:cNvCxnSpPr>
          <p:nvPr/>
        </p:nvCxnSpPr>
        <p:spPr>
          <a:xfrm flipH="1">
            <a:off x="7139305" y="3717290"/>
            <a:ext cx="1438275" cy="2667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9" idx="1"/>
          </p:cNvCxnSpPr>
          <p:nvPr/>
        </p:nvCxnSpPr>
        <p:spPr>
          <a:xfrm flipH="1" flipV="1">
            <a:off x="7177405" y="3792220"/>
            <a:ext cx="1400175" cy="81597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5219065" y="2112010"/>
            <a:ext cx="1753235" cy="4311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服务</a:t>
            </a:r>
            <a:r>
              <a:rPr lang="zh-CN" altLang="en-US"/>
              <a:t>发现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219065" y="1537335"/>
            <a:ext cx="1753235" cy="4311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服务</a:t>
            </a:r>
            <a:r>
              <a:rPr lang="zh-CN" altLang="en-US"/>
              <a:t>注册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3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7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5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2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 animBg="1"/>
      <p:bldP spid="20" grpId="0" animBg="1"/>
      <p:bldP spid="4" grpId="0" animBg="1"/>
      <p:bldP spid="7" grpId="0" animBg="1"/>
      <p:bldP spid="6" grpId="0" animBg="1"/>
      <p:bldP spid="10" grpId="0" animBg="1"/>
      <p:bldP spid="8" grpId="0" animBg="1"/>
      <p:bldP spid="9" grpId="0" animBg="1"/>
      <p:bldP spid="7" grpId="1" animBg="1"/>
      <p:bldP spid="4" grpId="1" animBg="1"/>
      <p:bldP spid="8" grpId="1" animBg="1"/>
      <p:bldP spid="9" grpId="1" animBg="1"/>
      <p:bldP spid="11" grpId="1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Nacos</a:t>
            </a:r>
            <a:r>
              <a:rPr lang="zh-CN" altLang="en-US"/>
              <a:t>安装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b="1">
                <a:solidFill>
                  <a:srgbClr val="FFC000"/>
                </a:solidFill>
                <a:sym typeface="+mn-ea"/>
              </a:rPr>
              <a:t>Nacos </a:t>
            </a:r>
            <a:r>
              <a:rPr lang="en-US" altLang="zh-CN">
                <a:sym typeface="+mn-ea"/>
              </a:rPr>
              <a:t>/n</a:t>
            </a:r>
            <a:r>
              <a:rPr lang="en-US" altLang="en-US">
                <a:sym typeface="+mn-ea"/>
              </a:rPr>
              <a:t>ɑ</a:t>
            </a:r>
            <a:r>
              <a:rPr lang="en-US" altLang="zh-CN">
                <a:sym typeface="+mn-ea"/>
              </a:rPr>
              <a:t>:k</a:t>
            </a:r>
            <a:r>
              <a:rPr lang="en-US" altLang="en-US">
                <a:sym typeface="+mn-ea"/>
              </a:rPr>
              <a:t>əʊ</a:t>
            </a:r>
            <a:r>
              <a:rPr lang="en-US" altLang="zh-CN">
                <a:sym typeface="+mn-ea"/>
              </a:rPr>
              <a:t>s/ 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92D050"/>
                </a:solidFill>
                <a:sym typeface="+mn-ea"/>
              </a:rPr>
              <a:t>Dynamic </a:t>
            </a:r>
            <a:r>
              <a:rPr lang="en-US" altLang="zh-CN">
                <a:solidFill>
                  <a:srgbClr val="FFC000"/>
                </a:solidFill>
                <a:sym typeface="+mn-ea"/>
              </a:rPr>
              <a:t>Na</a:t>
            </a:r>
            <a:r>
              <a:rPr lang="en-US" altLang="zh-CN">
                <a:solidFill>
                  <a:srgbClr val="92D050"/>
                </a:solidFill>
                <a:sym typeface="+mn-ea"/>
              </a:rPr>
              <a:t>ming and </a:t>
            </a:r>
            <a:r>
              <a:rPr lang="en-US" altLang="zh-CN" b="1">
                <a:solidFill>
                  <a:srgbClr val="FFC000"/>
                </a:solidFill>
                <a:sym typeface="+mn-ea"/>
              </a:rPr>
              <a:t>Co</a:t>
            </a:r>
            <a:r>
              <a:rPr lang="en-US" altLang="zh-CN">
                <a:solidFill>
                  <a:srgbClr val="92D050"/>
                </a:solidFill>
                <a:sym typeface="+mn-ea"/>
              </a:rPr>
              <a:t>nfiguration </a:t>
            </a:r>
            <a:r>
              <a:rPr lang="en-US" altLang="zh-CN" b="1">
                <a:solidFill>
                  <a:srgbClr val="FFC000"/>
                </a:solidFill>
                <a:sym typeface="+mn-ea"/>
              </a:rPr>
              <a:t>S</a:t>
            </a:r>
            <a:r>
              <a:rPr lang="en-US" altLang="zh-CN">
                <a:solidFill>
                  <a:srgbClr val="92D050"/>
                </a:solidFill>
                <a:sym typeface="+mn-ea"/>
              </a:rPr>
              <a:t>ervice</a:t>
            </a:r>
            <a:r>
              <a:rPr lang="zh-CN" altLang="en-US">
                <a:sym typeface="+mn-ea"/>
              </a:rPr>
              <a:t>的首字母简称，一个更易于构建云原生应用的</a:t>
            </a:r>
            <a:r>
              <a:rPr lang="zh-CN" altLang="en-US">
                <a:solidFill>
                  <a:srgbClr val="FFC000"/>
                </a:solidFill>
                <a:sym typeface="+mn-ea"/>
              </a:rPr>
              <a:t>动态服务发现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olidFill>
                  <a:srgbClr val="FFC000"/>
                </a:solidFill>
                <a:sym typeface="+mn-ea"/>
              </a:rPr>
              <a:t>配置管理</a:t>
            </a:r>
            <a:r>
              <a:rPr lang="zh-CN" altLang="en-US">
                <a:sym typeface="+mn-ea"/>
              </a:rPr>
              <a:t>和</a:t>
            </a:r>
            <a:r>
              <a:rPr lang="zh-CN" altLang="en-US">
                <a:solidFill>
                  <a:srgbClr val="FFC000"/>
                </a:solidFill>
                <a:sym typeface="+mn-ea"/>
              </a:rPr>
              <a:t>服务管理</a:t>
            </a:r>
            <a:r>
              <a:rPr lang="zh-CN" altLang="en-US">
                <a:sym typeface="+mn-ea"/>
              </a:rPr>
              <a:t>平台。</a:t>
            </a:r>
            <a:endParaRPr lang="zh-CN" altLang="en-US"/>
          </a:p>
          <a:p>
            <a:r>
              <a:rPr lang="zh-CN" altLang="en-US"/>
              <a:t>官网：</a:t>
            </a:r>
            <a:r>
              <a:rPr lang="en-US" altLang="zh-CN"/>
              <a:t>https://nacos.io/zh-cn/docs/v2/quickstart/quick-start.html</a:t>
            </a:r>
            <a:endParaRPr lang="en-US" altLang="zh-CN"/>
          </a:p>
          <a:p>
            <a:r>
              <a:rPr lang="zh-CN" altLang="en-US"/>
              <a:t>安装：</a:t>
            </a:r>
            <a:endParaRPr lang="zh-CN" altLang="en-US"/>
          </a:p>
          <a:p>
            <a:pPr lvl="1"/>
            <a:r>
              <a:rPr lang="zh-CN" altLang="en-US"/>
              <a:t>下载安装包</a:t>
            </a:r>
            <a:r>
              <a:rPr lang="zh-CN" altLang="en-US">
                <a:solidFill>
                  <a:srgbClr val="FFC000"/>
                </a:solidFill>
              </a:rPr>
              <a:t>【</a:t>
            </a:r>
            <a:r>
              <a:rPr lang="en-US" altLang="zh-CN">
                <a:solidFill>
                  <a:srgbClr val="FFC000"/>
                </a:solidFill>
              </a:rPr>
              <a:t>2.4.3</a:t>
            </a:r>
            <a:r>
              <a:rPr lang="zh-CN" altLang="en-US">
                <a:solidFill>
                  <a:srgbClr val="FFC000"/>
                </a:solidFill>
              </a:rPr>
              <a:t>】</a:t>
            </a:r>
            <a:endParaRPr lang="zh-CN" altLang="en-US"/>
          </a:p>
          <a:p>
            <a:pPr lvl="1"/>
            <a:r>
              <a:rPr lang="zh-CN" altLang="en-US"/>
              <a:t>启动命令：</a:t>
            </a:r>
            <a:r>
              <a:rPr lang="en-US" altLang="zh-CN">
                <a:solidFill>
                  <a:srgbClr val="FFC000"/>
                </a:solidFill>
              </a:rPr>
              <a:t> startup.cmd -m standalone</a:t>
            </a:r>
            <a:endParaRPr lang="zh-CN" alt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注册中心</a:t>
            </a:r>
            <a:r>
              <a:rPr lang="en-US" altLang="zh-CN"/>
              <a:t> - </a:t>
            </a:r>
            <a:r>
              <a:rPr lang="zh-CN" altLang="en-US"/>
              <a:t>服务</a:t>
            </a:r>
            <a:r>
              <a:rPr lang="zh-CN" altLang="en-US"/>
              <a:t>注册</a:t>
            </a:r>
            <a:endParaRPr lang="zh-CN" altLang="en-US"/>
          </a:p>
        </p:txBody>
      </p:sp>
      <p:graphicFrame>
        <p:nvGraphicFramePr>
          <p:cNvPr id="20" name="表格 19"/>
          <p:cNvGraphicFramePr/>
          <p:nvPr/>
        </p:nvGraphicFramePr>
        <p:xfrm>
          <a:off x="1350010" y="1706245"/>
          <a:ext cx="896302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665"/>
                <a:gridCol w="2642870"/>
                <a:gridCol w="46824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流程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步骤</a:t>
                      </a: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启动</a:t>
                      </a:r>
                      <a:r>
                        <a:rPr lang="zh-CN" altLang="en-US"/>
                        <a:t>微服务</a:t>
                      </a:r>
                      <a:endParaRPr lang="zh-CN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SpringBoot </a:t>
                      </a:r>
                      <a:r>
                        <a:rPr lang="zh-CN" altLang="en-US"/>
                        <a:t>微服务</a:t>
                      </a:r>
                      <a:r>
                        <a:rPr lang="en-US" altLang="zh-CN"/>
                        <a:t>web</a:t>
                      </a:r>
                      <a:r>
                        <a:rPr lang="zh-CN" altLang="en-US"/>
                        <a:t>项目</a:t>
                      </a:r>
                      <a:r>
                        <a:rPr lang="zh-CN" altLang="en-US"/>
                        <a:t>启动</a:t>
                      </a:r>
                      <a:endParaRPr lang="zh-CN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步骤</a:t>
                      </a: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引入服务发现</a:t>
                      </a:r>
                      <a:r>
                        <a:rPr lang="zh-CN" altLang="en-US"/>
                        <a:t>依赖</a:t>
                      </a:r>
                      <a:endParaRPr lang="zh-CN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sym typeface="+mn-ea"/>
                        </a:rPr>
                        <a:t>spring-cloud-starter-alibaba-nacos-discovery</a:t>
                      </a:r>
                      <a:endParaRPr lang="en-US" altLang="zh-CN" sz="18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步骤</a:t>
                      </a:r>
                      <a:r>
                        <a:rPr lang="en-US" altLang="zh-CN" sz="1800">
                          <a:sym typeface="+mn-ea"/>
                        </a:rPr>
                        <a:t>3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配置</a:t>
                      </a:r>
                      <a:r>
                        <a:rPr lang="en-US" altLang="zh-CN"/>
                        <a:t>Nacos</a:t>
                      </a:r>
                      <a:r>
                        <a:rPr lang="zh-CN" altLang="en-US"/>
                        <a:t>地址</a:t>
                      </a:r>
                      <a:endParaRPr lang="zh-CN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spring.cloud.nacos.server-addr=127.0.0.1:8848</a:t>
                      </a:r>
                      <a:endParaRPr lang="en-US" altLang="zh-CN" sz="1800" b="1"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步骤</a:t>
                      </a:r>
                      <a:r>
                        <a:rPr lang="en-US" altLang="zh-CN" sz="1800">
                          <a:sym typeface="+mn-ea"/>
                        </a:rPr>
                        <a:t>4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查看注册中心</a:t>
                      </a:r>
                      <a:r>
                        <a:rPr lang="zh-CN" altLang="en-US"/>
                        <a:t>效果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访问</a:t>
                      </a:r>
                      <a:r>
                        <a:rPr lang="en-US" altLang="zh-CN"/>
                        <a:t> http://localhost:8848/nacos 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步骤</a:t>
                      </a: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集群模式启动</a:t>
                      </a:r>
                      <a:r>
                        <a:rPr lang="zh-CN" altLang="en-US"/>
                        <a:t>测试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单机情况下通过改变端口模拟</a:t>
                      </a:r>
                      <a:r>
                        <a:rPr lang="zh-CN" altLang="en-US"/>
                        <a:t>微服务集群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注册中心</a:t>
            </a:r>
            <a:r>
              <a:rPr lang="en-US" altLang="zh-CN"/>
              <a:t> - </a:t>
            </a:r>
            <a:r>
              <a:rPr lang="zh-CN" altLang="en-US"/>
              <a:t>服务</a:t>
            </a:r>
            <a:r>
              <a:rPr lang="zh-CN" altLang="en-US"/>
              <a:t>发现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503045" y="1657350"/>
          <a:ext cx="853249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流程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步骤</a:t>
                      </a: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开启服务发现功能</a:t>
                      </a:r>
                      <a:endParaRPr lang="zh-CN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sym typeface="+mn-ea"/>
                        </a:rPr>
                        <a:t>@EnableDiscoveryClient</a:t>
                      </a:r>
                      <a:endParaRPr lang="en-US" altLang="zh-CN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步骤</a:t>
                      </a: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测试服务发现</a:t>
                      </a:r>
                      <a:r>
                        <a:rPr lang="en-US" altLang="zh-CN" sz="1800">
                          <a:sym typeface="+mn-ea"/>
                        </a:rPr>
                        <a:t>API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DiscoveryClient</a:t>
                      </a:r>
                      <a:endParaRPr lang="en-US" altLang="zh-CN" sz="18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步骤</a:t>
                      </a:r>
                      <a:r>
                        <a:rPr lang="en-US" altLang="zh-CN" sz="1800">
                          <a:sym typeface="+mn-ea"/>
                        </a:rPr>
                        <a:t>3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测试服务发现</a:t>
                      </a:r>
                      <a:r>
                        <a:rPr lang="en-US" altLang="zh-CN" sz="1800">
                          <a:sym typeface="+mn-ea"/>
                        </a:rPr>
                        <a:t>API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NacosServiceDiscovery </a:t>
                      </a:r>
                      <a:endParaRPr lang="en-US" altLang="zh-CN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远程调用</a:t>
            </a:r>
            <a:r>
              <a:rPr lang="en-US" altLang="zh-CN"/>
              <a:t> - </a:t>
            </a:r>
            <a:r>
              <a:rPr lang="zh-CN" altLang="en-US"/>
              <a:t>基本</a:t>
            </a:r>
            <a:r>
              <a:rPr lang="zh-CN" altLang="en-US"/>
              <a:t>流程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05" y="1356360"/>
            <a:ext cx="9254490" cy="48507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远程调用</a:t>
            </a:r>
            <a:r>
              <a:rPr lang="en-US" altLang="zh-CN"/>
              <a:t> - </a:t>
            </a:r>
            <a:r>
              <a:rPr lang="zh-CN" altLang="en-US"/>
              <a:t>下单场景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580" y="4475480"/>
            <a:ext cx="6775450" cy="2238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75" y="1317625"/>
            <a:ext cx="8821420" cy="2961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远程调用</a:t>
            </a:r>
            <a:r>
              <a:rPr lang="en-US" altLang="zh-CN"/>
              <a:t> - </a:t>
            </a:r>
            <a:r>
              <a:rPr lang="zh-CN" altLang="en-US"/>
              <a:t>实现</a:t>
            </a:r>
            <a:r>
              <a:rPr lang="zh-CN" altLang="en-US"/>
              <a:t>步骤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21435" y="3552825"/>
            <a:ext cx="84416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C000"/>
                </a:solidFill>
                <a:sym typeface="+mn-ea"/>
              </a:rPr>
              <a:t>思考：注册中心宕机，远程调用还能成功吗？</a:t>
            </a:r>
            <a:endParaRPr lang="zh-CN" altLang="en-US" sz="2400">
              <a:solidFill>
                <a:srgbClr val="FFC000"/>
              </a:solidFill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1321435" y="1369695"/>
          <a:ext cx="853249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110"/>
                <a:gridCol w="2145665"/>
                <a:gridCol w="499872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流程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步骤</a:t>
                      </a: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引入负载均衡</a:t>
                      </a:r>
                      <a:r>
                        <a:rPr lang="zh-CN" altLang="en-US" sz="1800">
                          <a:sym typeface="+mn-ea"/>
                        </a:rPr>
                        <a:t>依赖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spring-cloud-starter-loadbalancer</a:t>
                      </a:r>
                      <a:endParaRPr lang="en-US" altLang="zh-CN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步骤</a:t>
                      </a:r>
                      <a:r>
                        <a:rPr lang="en-US" altLang="zh-CN" sz="1800">
                          <a:sym typeface="+mn-ea"/>
                        </a:rPr>
                        <a:t>2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测试负载均衡</a:t>
                      </a:r>
                      <a:r>
                        <a:rPr lang="en-US" altLang="zh-CN" sz="1800">
                          <a:sym typeface="+mn-ea"/>
                        </a:rPr>
                        <a:t>API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LoadBalancerClient</a:t>
                      </a:r>
                      <a:endParaRPr lang="en-US" altLang="zh-CN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步骤</a:t>
                      </a: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测试远程</a:t>
                      </a:r>
                      <a:r>
                        <a:rPr lang="zh-CN" altLang="en-US" sz="1800">
                          <a:sym typeface="+mn-ea"/>
                        </a:rPr>
                        <a:t>调用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RestTemplate </a:t>
                      </a:r>
                      <a:endParaRPr lang="en-US" altLang="zh-CN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步骤</a:t>
                      </a:r>
                      <a:r>
                        <a:rPr lang="en-US" altLang="zh-CN" sz="1800">
                          <a:sym typeface="+mn-ea"/>
                        </a:rPr>
                        <a:t>4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测试负载均衡</a:t>
                      </a:r>
                      <a:r>
                        <a:rPr lang="zh-CN" altLang="en-US" sz="1800">
                          <a:sym typeface="+mn-ea"/>
                        </a:rPr>
                        <a:t>调用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@LoadBalanced</a:t>
                      </a:r>
                      <a:endParaRPr lang="en-US" altLang="zh-CN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远程调用</a:t>
            </a:r>
            <a:r>
              <a:rPr lang="en-US" altLang="zh-CN"/>
              <a:t> - </a:t>
            </a:r>
            <a:r>
              <a:rPr lang="zh-CN" altLang="en-US"/>
              <a:t>面试题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35075" y="1101090"/>
            <a:ext cx="84416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C000"/>
                </a:solidFill>
                <a:sym typeface="+mn-ea"/>
              </a:rPr>
              <a:t>思考：注册中心宕机，远程调用还能成功吗？</a:t>
            </a:r>
            <a:endParaRPr lang="zh-CN" altLang="en-US" sz="240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545" y="1922780"/>
            <a:ext cx="9433560" cy="4602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配置中心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577580" y="1968500"/>
            <a:ext cx="2461260" cy="71818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商品服务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service-product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10895" y="1968500"/>
            <a:ext cx="2461260" cy="7181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订单服务</a:t>
            </a:r>
            <a:endParaRPr lang="zh-CN" altLang="en-US"/>
          </a:p>
          <a:p>
            <a:pPr algn="ctr"/>
            <a:r>
              <a:rPr lang="en-US" altLang="zh-CN"/>
              <a:t>service-order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810895" y="4028440"/>
            <a:ext cx="2461260" cy="71818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用户服务</a:t>
            </a:r>
            <a:endParaRPr lang="zh-CN" altLang="en-US"/>
          </a:p>
          <a:p>
            <a:pPr algn="ctr"/>
            <a:r>
              <a:rPr lang="en-US" altLang="zh-CN"/>
              <a:t>service-user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810895" y="2998470"/>
            <a:ext cx="2461260" cy="7181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订单服务</a:t>
            </a:r>
            <a:endParaRPr lang="zh-CN" altLang="en-US"/>
          </a:p>
          <a:p>
            <a:pPr algn="ctr"/>
            <a:r>
              <a:rPr lang="en-US" altLang="zh-CN"/>
              <a:t>service-order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8577580" y="2998470"/>
            <a:ext cx="2461260" cy="71818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商品服务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service-product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77580" y="4028440"/>
            <a:ext cx="2461260" cy="7181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支付服务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service-pay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0895" y="5058410"/>
            <a:ext cx="2461260" cy="71818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用户服务</a:t>
            </a:r>
            <a:endParaRPr lang="zh-CN" altLang="en-US"/>
          </a:p>
          <a:p>
            <a:pPr algn="ctr"/>
            <a:r>
              <a:rPr lang="en-US" altLang="zh-CN"/>
              <a:t>service-user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099050" y="2853055"/>
            <a:ext cx="2059305" cy="181038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Na</a:t>
            </a:r>
            <a:r>
              <a:rPr lang="en-US" altLang="zh-CN"/>
              <a:t>cos</a:t>
            </a:r>
            <a:endParaRPr lang="en-US" altLang="zh-CN"/>
          </a:p>
          <a:p>
            <a:pPr algn="ctr"/>
            <a:r>
              <a:rPr lang="zh-CN" altLang="en-US"/>
              <a:t>注册</a:t>
            </a:r>
            <a:r>
              <a:rPr lang="zh-CN" altLang="en-US"/>
              <a:t>中心</a:t>
            </a:r>
            <a:endParaRPr lang="zh-CN" altLang="en-US"/>
          </a:p>
          <a:p>
            <a:pPr algn="ctr"/>
            <a:r>
              <a:rPr lang="zh-CN" altLang="en-US"/>
              <a:t>配置中心</a:t>
            </a:r>
            <a:endParaRPr lang="zh-CN" altLang="en-US"/>
          </a:p>
        </p:txBody>
      </p:sp>
      <p:cxnSp>
        <p:nvCxnSpPr>
          <p:cNvPr id="12" name="直接箭头连接符 11"/>
          <p:cNvCxnSpPr>
            <a:stCxn id="5" idx="3"/>
            <a:endCxn id="11" idx="1"/>
          </p:cNvCxnSpPr>
          <p:nvPr/>
        </p:nvCxnSpPr>
        <p:spPr>
          <a:xfrm>
            <a:off x="3272155" y="2327910"/>
            <a:ext cx="1826895" cy="143065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7" idx="3"/>
          </p:cNvCxnSpPr>
          <p:nvPr/>
        </p:nvCxnSpPr>
        <p:spPr>
          <a:xfrm>
            <a:off x="3272155" y="3357880"/>
            <a:ext cx="1826895" cy="41529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6" idx="3"/>
          </p:cNvCxnSpPr>
          <p:nvPr/>
        </p:nvCxnSpPr>
        <p:spPr>
          <a:xfrm flipV="1">
            <a:off x="3272155" y="3792220"/>
            <a:ext cx="1788795" cy="59563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0" idx="3"/>
          </p:cNvCxnSpPr>
          <p:nvPr/>
        </p:nvCxnSpPr>
        <p:spPr>
          <a:xfrm flipV="1">
            <a:off x="3272155" y="3820795"/>
            <a:ext cx="1788795" cy="159702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4" idx="1"/>
            <a:endCxn id="11" idx="3"/>
          </p:cNvCxnSpPr>
          <p:nvPr/>
        </p:nvCxnSpPr>
        <p:spPr>
          <a:xfrm flipH="1">
            <a:off x="7158355" y="2327910"/>
            <a:ext cx="1419225" cy="143065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1"/>
          </p:cNvCxnSpPr>
          <p:nvPr/>
        </p:nvCxnSpPr>
        <p:spPr>
          <a:xfrm flipH="1">
            <a:off x="7129780" y="3357880"/>
            <a:ext cx="1447800" cy="37655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9" idx="1"/>
            <a:endCxn id="11" idx="3"/>
          </p:cNvCxnSpPr>
          <p:nvPr/>
        </p:nvCxnSpPr>
        <p:spPr>
          <a:xfrm flipH="1" flipV="1">
            <a:off x="7158355" y="3758565"/>
            <a:ext cx="1419225" cy="62928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209540" y="2255520"/>
            <a:ext cx="1906905" cy="4311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配置集中管理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577580" y="5058410"/>
            <a:ext cx="2461260" cy="7181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支付服务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service-pay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22" idx="1"/>
          </p:cNvCxnSpPr>
          <p:nvPr/>
        </p:nvCxnSpPr>
        <p:spPr>
          <a:xfrm flipH="1" flipV="1">
            <a:off x="7167880" y="3763010"/>
            <a:ext cx="1409700" cy="165481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5214620" y="4829810"/>
            <a:ext cx="1901825" cy="4311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推送配置变更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219065" y="5494655"/>
            <a:ext cx="1897380" cy="4311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不停机配置更新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1" grpId="0" animBg="1"/>
      <p:bldP spid="5" grpId="0" animBg="1"/>
      <p:bldP spid="7" grpId="0" animBg="1"/>
      <p:bldP spid="6" grpId="0" bldLvl="0" animBg="1"/>
      <p:bldP spid="10" grpId="0" bldLvl="0" animBg="1"/>
      <p:bldP spid="4" grpId="0" bldLvl="0" animBg="1"/>
      <p:bldP spid="8" grpId="0" bldLvl="0" animBg="1"/>
      <p:bldP spid="9" grpId="0" bldLvl="0" animBg="1"/>
      <p:bldP spid="22" grpId="0" bldLvl="0" animBg="1"/>
      <p:bldP spid="21" grpId="0" bldLvl="0" animBg="1"/>
      <p:bldP spid="24" grpId="0" bldLvl="0" animBg="1"/>
      <p:bldP spid="2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配置中心</a:t>
            </a:r>
            <a:r>
              <a:rPr lang="en-US" altLang="zh-CN"/>
              <a:t> - </a:t>
            </a:r>
            <a:r>
              <a:rPr lang="zh-CN" altLang="en-US"/>
              <a:t>基本使用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408035" y="2605405"/>
            <a:ext cx="3151505" cy="4883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引入依赖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07400" y="3444240"/>
            <a:ext cx="3150870" cy="4883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C000"/>
                </a:solidFill>
              </a:rPr>
              <a:t>application</a:t>
            </a:r>
            <a:r>
              <a:rPr lang="en-US" altLang="zh-CN">
                <a:solidFill>
                  <a:srgbClr val="FFC000"/>
                </a:solidFill>
              </a:rPr>
              <a:t>.properties</a:t>
            </a:r>
            <a:r>
              <a:rPr lang="en-US" altLang="zh-CN"/>
              <a:t> </a:t>
            </a:r>
            <a:r>
              <a:rPr lang="zh-CN" altLang="en-US"/>
              <a:t>配置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407400" y="4283075"/>
            <a:ext cx="3150870" cy="4883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创建</a:t>
            </a:r>
            <a:r>
              <a:rPr lang="en-US" altLang="zh-CN"/>
              <a:t> data-id</a:t>
            </a:r>
            <a:r>
              <a:rPr lang="zh-CN" altLang="en-US"/>
              <a:t>（数据集）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885825" y="1687195"/>
            <a:ext cx="7011670" cy="3647440"/>
            <a:chOff x="1304" y="1270"/>
            <a:chExt cx="11042" cy="5744"/>
          </a:xfrm>
        </p:grpSpPr>
        <p:sp>
          <p:nvSpPr>
            <p:cNvPr id="12" name="文本框 11"/>
            <p:cNvSpPr txBox="1"/>
            <p:nvPr/>
          </p:nvSpPr>
          <p:spPr>
            <a:xfrm>
              <a:off x="1304" y="1270"/>
              <a:ext cx="11042" cy="1888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</a:rPr>
                <a:t>        &lt;dependency&gt;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/>
              <a:r>
                <a:rPr lang="en-US" altLang="zh-CN">
                  <a:solidFill>
                    <a:schemeClr val="bg1"/>
                  </a:solidFill>
                </a:rPr>
                <a:t>            &lt;groupId&gt;com.alibaba.cloud&lt;/groupId&gt;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/>
              <a:r>
                <a:rPr lang="en-US" altLang="zh-CN">
                  <a:solidFill>
                    <a:schemeClr val="bg1"/>
                  </a:solidFill>
                </a:rPr>
                <a:t>            &lt;artifactId&gt;</a:t>
              </a:r>
              <a:r>
                <a:rPr lang="en-US" altLang="zh-CN">
                  <a:solidFill>
                    <a:srgbClr val="FFC000"/>
                  </a:solidFill>
                </a:rPr>
                <a:t>spring-cloud-starter-alibaba-nacos-config</a:t>
              </a:r>
              <a:r>
                <a:rPr lang="en-US" altLang="zh-CN">
                  <a:solidFill>
                    <a:schemeClr val="bg1"/>
                  </a:solidFill>
                </a:rPr>
                <a:t>&lt;/artifactId&gt;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/>
              <a:r>
                <a:rPr lang="en-US" altLang="zh-CN">
                  <a:solidFill>
                    <a:schemeClr val="bg1"/>
                  </a:solidFill>
                </a:rPr>
                <a:t>        &lt;/dependency&gt;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304" y="3485"/>
              <a:ext cx="11042" cy="994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p>
              <a:pPr algn="l"/>
              <a:r>
                <a:rPr lang="en-US" altLang="zh-CN">
                  <a:solidFill>
                    <a:srgbClr val="FFC000"/>
                  </a:solidFill>
                </a:rPr>
                <a:t>spring.cloud.nacos.server-addr</a:t>
              </a:r>
              <a:r>
                <a:rPr lang="en-US" altLang="zh-CN">
                  <a:solidFill>
                    <a:schemeClr val="bg1"/>
                  </a:solidFill>
                </a:rPr>
                <a:t>=127.0.0.1:8848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/>
              <a:r>
                <a:rPr lang="en-US" altLang="zh-CN">
                  <a:solidFill>
                    <a:srgbClr val="FFC000"/>
                  </a:solidFill>
                </a:rPr>
                <a:t>spring.config.import</a:t>
              </a:r>
              <a:r>
                <a:rPr lang="en-US" altLang="zh-CN">
                  <a:solidFill>
                    <a:schemeClr val="bg1"/>
                  </a:solidFill>
                </a:rPr>
                <a:t>=nacos:service-order.properties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304" y="4677"/>
              <a:ext cx="11042" cy="2337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p>
              <a:pPr algn="l"/>
              <a:r>
                <a:rPr lang="zh-CN" altLang="en-US">
                  <a:solidFill>
                    <a:schemeClr val="bg1"/>
                  </a:solidFill>
                </a:rPr>
                <a:t>数据集：</a:t>
              </a:r>
              <a:r>
                <a:rPr lang="en-US" altLang="zh-CN">
                  <a:solidFill>
                    <a:schemeClr val="bg1"/>
                  </a:solidFill>
                </a:rPr>
                <a:t> </a:t>
              </a:r>
              <a:r>
                <a:rPr lang="en-US" altLang="zh-CN">
                  <a:solidFill>
                    <a:srgbClr val="FFC000"/>
                  </a:solidFill>
                </a:rPr>
                <a:t>service-order.properties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/>
              <a:r>
                <a:rPr lang="zh-CN" altLang="en-US">
                  <a:solidFill>
                    <a:schemeClr val="bg1"/>
                  </a:solidFill>
                </a:rPr>
                <a:t>内容：</a:t>
              </a:r>
              <a:endParaRPr lang="zh-CN" altLang="en-US">
                <a:solidFill>
                  <a:schemeClr val="bg1"/>
                </a:solidFill>
              </a:endParaRPr>
            </a:p>
            <a:p>
              <a:pPr algn="l"/>
              <a:endParaRPr lang="zh-CN" altLang="en-US">
                <a:solidFill>
                  <a:schemeClr val="bg1"/>
                </a:solidFill>
              </a:endParaRPr>
            </a:p>
            <a:p>
              <a:pPr indent="457200" algn="l"/>
              <a:endParaRPr lang="zh-CN" altLang="en-US">
                <a:solidFill>
                  <a:schemeClr val="bg1"/>
                </a:solidFill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89" y="5395"/>
              <a:ext cx="6062" cy="1084"/>
            </a:xfrm>
            <a:prstGeom prst="rect">
              <a:avLst/>
            </a:prstGeom>
          </p:spPr>
        </p:pic>
      </p:grpSp>
      <p:cxnSp>
        <p:nvCxnSpPr>
          <p:cNvPr id="17" name="直接箭头连接符 16"/>
          <p:cNvCxnSpPr>
            <a:stCxn id="5" idx="2"/>
            <a:endCxn id="6" idx="0"/>
          </p:cNvCxnSpPr>
          <p:nvPr/>
        </p:nvCxnSpPr>
        <p:spPr>
          <a:xfrm flipH="1">
            <a:off x="9982835" y="3093720"/>
            <a:ext cx="1270" cy="35052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6" idx="2"/>
            <a:endCxn id="9" idx="0"/>
          </p:cNvCxnSpPr>
          <p:nvPr/>
        </p:nvCxnSpPr>
        <p:spPr>
          <a:xfrm>
            <a:off x="9982835" y="3932555"/>
            <a:ext cx="0" cy="35052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8408035" y="1687195"/>
            <a:ext cx="3151505" cy="4883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启动</a:t>
            </a:r>
            <a:r>
              <a:rPr lang="en-US" altLang="zh-CN"/>
              <a:t>Nacos</a:t>
            </a:r>
            <a:endParaRPr lang="en-US" altLang="zh-CN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9981565" y="2214880"/>
            <a:ext cx="1270" cy="35052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配置中心</a:t>
            </a:r>
            <a:r>
              <a:rPr lang="en-US" altLang="zh-CN"/>
              <a:t> -  </a:t>
            </a:r>
            <a:r>
              <a:rPr lang="zh-CN" altLang="en-US"/>
              <a:t>动态刷新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6895" cy="4351655"/>
          </a:xfrm>
        </p:spPr>
        <p:txBody>
          <a:bodyPr/>
          <a:p>
            <a:r>
              <a:rPr lang="zh-CN" altLang="en-US"/>
              <a:t>使用步骤</a:t>
            </a:r>
            <a:endParaRPr lang="zh-CN" altLang="en-US"/>
          </a:p>
          <a:p>
            <a:pPr lvl="1"/>
            <a:r>
              <a:rPr lang="en-US" altLang="zh-CN">
                <a:solidFill>
                  <a:srgbClr val="FFC000"/>
                </a:solidFill>
              </a:rPr>
              <a:t>@Value(“${xx}”)</a:t>
            </a:r>
            <a:r>
              <a:rPr lang="en-US" altLang="zh-CN"/>
              <a:t> </a:t>
            </a:r>
            <a:r>
              <a:rPr lang="zh-CN" altLang="en-US"/>
              <a:t>获取配置</a:t>
            </a:r>
            <a:r>
              <a:rPr lang="en-US" altLang="zh-CN"/>
              <a:t> + </a:t>
            </a:r>
            <a:r>
              <a:rPr lang="en-US" altLang="zh-CN">
                <a:solidFill>
                  <a:srgbClr val="FFC000"/>
                </a:solidFill>
              </a:rPr>
              <a:t>@RefreshScope</a:t>
            </a:r>
            <a:r>
              <a:rPr lang="en-US" altLang="zh-CN"/>
              <a:t>  </a:t>
            </a:r>
            <a:r>
              <a:rPr lang="zh-CN" altLang="en-US"/>
              <a:t>实现自动刷新</a:t>
            </a:r>
            <a:endParaRPr lang="zh-CN" altLang="en-US"/>
          </a:p>
          <a:p>
            <a:pPr lvl="1"/>
            <a:r>
              <a:rPr lang="en-US" altLang="zh-CN">
                <a:solidFill>
                  <a:srgbClr val="FFC000"/>
                </a:solidFill>
              </a:rPr>
              <a:t>@ConfigurationProperties</a:t>
            </a:r>
            <a:r>
              <a:rPr lang="en-US" altLang="zh-CN"/>
              <a:t> </a:t>
            </a:r>
            <a:r>
              <a:rPr lang="zh-CN" altLang="en-US"/>
              <a:t>无感自动刷新</a:t>
            </a:r>
            <a:endParaRPr lang="zh-CN" altLang="en-US"/>
          </a:p>
          <a:p>
            <a:pPr lvl="1"/>
            <a:r>
              <a:rPr lang="en-US" altLang="zh-CN">
                <a:solidFill>
                  <a:srgbClr val="FFC000"/>
                </a:solidFill>
              </a:rPr>
              <a:t>NacosConfigManager </a:t>
            </a:r>
            <a:r>
              <a:rPr lang="zh-CN" altLang="en-US"/>
              <a:t>监听配置变化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200" y="4290060"/>
            <a:ext cx="10563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C000"/>
                </a:solidFill>
              </a:rPr>
              <a:t>思考：</a:t>
            </a:r>
            <a:r>
              <a:rPr lang="en-US" altLang="zh-CN" sz="2400">
                <a:solidFill>
                  <a:srgbClr val="FFC000"/>
                </a:solidFill>
              </a:rPr>
              <a:t> Nacos</a:t>
            </a:r>
            <a:r>
              <a:rPr lang="zh-CN" altLang="en-US" sz="2400">
                <a:solidFill>
                  <a:srgbClr val="FFC000"/>
                </a:solidFill>
              </a:rPr>
              <a:t>中的数据集</a:t>
            </a:r>
            <a:r>
              <a:rPr lang="en-US" altLang="zh-CN" sz="2400">
                <a:solidFill>
                  <a:srgbClr val="FFC000"/>
                </a:solidFill>
              </a:rPr>
              <a:t> </a:t>
            </a:r>
            <a:r>
              <a:rPr lang="zh-CN" altLang="en-US" sz="2400">
                <a:solidFill>
                  <a:srgbClr val="FFC000"/>
                </a:solidFill>
              </a:rPr>
              <a:t>和</a:t>
            </a:r>
            <a:r>
              <a:rPr lang="en-US" altLang="zh-CN" sz="2400">
                <a:solidFill>
                  <a:srgbClr val="FFC000"/>
                </a:solidFill>
              </a:rPr>
              <a:t> application.properties </a:t>
            </a:r>
            <a:r>
              <a:rPr lang="zh-CN" altLang="en-US" sz="2400">
                <a:solidFill>
                  <a:srgbClr val="FFC000"/>
                </a:solidFill>
              </a:rPr>
              <a:t>有相同的</a:t>
            </a:r>
            <a:r>
              <a:rPr lang="en-US" altLang="zh-CN" sz="2400">
                <a:solidFill>
                  <a:srgbClr val="FFC000"/>
                </a:solidFill>
              </a:rPr>
              <a:t> </a:t>
            </a:r>
            <a:r>
              <a:rPr lang="zh-CN" altLang="en-US" sz="2400">
                <a:solidFill>
                  <a:srgbClr val="FFC000"/>
                </a:solidFill>
              </a:rPr>
              <a:t>配置项，哪个生效？</a:t>
            </a:r>
            <a:endParaRPr lang="zh-CN" altLang="en-US" sz="240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配置中心</a:t>
            </a:r>
            <a:r>
              <a:rPr lang="en-US" altLang="zh-CN"/>
              <a:t> -  </a:t>
            </a:r>
            <a:r>
              <a:rPr lang="zh-CN" altLang="en-US"/>
              <a:t>数据</a:t>
            </a:r>
            <a:r>
              <a:rPr lang="zh-CN" altLang="en-US"/>
              <a:t>隔离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839335"/>
          </a:xfrm>
        </p:spPr>
        <p:txBody>
          <a:bodyPr>
            <a:normAutofit fontScale="90000" lnSpcReduction="10000"/>
          </a:bodyPr>
          <a:p>
            <a:pPr>
              <a:lnSpc>
                <a:spcPct val="120000"/>
              </a:lnSpc>
            </a:pPr>
            <a:r>
              <a:rPr lang="zh-CN" altLang="en-US"/>
              <a:t>需求描述</a:t>
            </a:r>
            <a:endParaRPr lang="zh-CN" altLang="en-US"/>
          </a:p>
          <a:p>
            <a:pPr lvl="1">
              <a:lnSpc>
                <a:spcPct val="120000"/>
              </a:lnSpc>
            </a:pPr>
            <a:r>
              <a:rPr lang="zh-CN" altLang="en-US"/>
              <a:t>项目有多套环境：</a:t>
            </a:r>
            <a:r>
              <a:rPr lang="en-US" altLang="zh-CN">
                <a:solidFill>
                  <a:srgbClr val="FFC000"/>
                </a:solidFill>
              </a:rPr>
              <a:t>dev</a:t>
            </a:r>
            <a:r>
              <a:rPr lang="zh-CN" altLang="en-US"/>
              <a:t>，</a:t>
            </a:r>
            <a:r>
              <a:rPr lang="en-US" altLang="zh-CN">
                <a:solidFill>
                  <a:srgbClr val="FFC000"/>
                </a:solidFill>
              </a:rPr>
              <a:t>test</a:t>
            </a:r>
            <a:r>
              <a:rPr lang="zh-CN" altLang="en-US"/>
              <a:t>，</a:t>
            </a:r>
            <a:r>
              <a:rPr lang="en-US" altLang="zh-CN">
                <a:solidFill>
                  <a:srgbClr val="FFC000"/>
                </a:solidFill>
              </a:rPr>
              <a:t>prod</a:t>
            </a:r>
            <a:endParaRPr lang="en-US" altLang="zh-CN"/>
          </a:p>
          <a:p>
            <a:pPr lvl="1">
              <a:lnSpc>
                <a:spcPct val="120000"/>
              </a:lnSpc>
            </a:pPr>
            <a:r>
              <a:rPr lang="zh-CN" altLang="en-US"/>
              <a:t>每个微服务，同一种配置，在每套环境的值都不一样。</a:t>
            </a:r>
            <a:endParaRPr lang="zh-CN" altLang="en-US"/>
          </a:p>
          <a:p>
            <a:pPr lvl="2">
              <a:lnSpc>
                <a:spcPct val="120000"/>
              </a:lnSpc>
            </a:pPr>
            <a:r>
              <a:rPr lang="zh-CN" altLang="en-US" sz="2000"/>
              <a:t>如：</a:t>
            </a:r>
            <a:r>
              <a:rPr lang="en-US" altLang="zh-CN" sz="2000">
                <a:solidFill>
                  <a:srgbClr val="FFC000"/>
                </a:solidFill>
              </a:rPr>
              <a:t>database.properties</a:t>
            </a:r>
            <a:endParaRPr lang="en-US" altLang="zh-CN" sz="2000"/>
          </a:p>
          <a:p>
            <a:pPr lvl="2">
              <a:lnSpc>
                <a:spcPct val="120000"/>
              </a:lnSpc>
            </a:pPr>
            <a:r>
              <a:rPr lang="zh-CN" altLang="en-US" sz="2000"/>
              <a:t>如：</a:t>
            </a:r>
            <a:r>
              <a:rPr lang="en-US" altLang="zh-CN" sz="2000">
                <a:solidFill>
                  <a:srgbClr val="FFC000"/>
                </a:solidFill>
              </a:rPr>
              <a:t>common.properties</a:t>
            </a:r>
            <a:endParaRPr lang="zh-CN" altLang="en-US"/>
          </a:p>
          <a:p>
            <a:pPr lvl="1">
              <a:lnSpc>
                <a:spcPct val="120000"/>
              </a:lnSpc>
            </a:pPr>
            <a:r>
              <a:rPr lang="zh-CN" altLang="en-US"/>
              <a:t>项目可以通过切换环境，加载本环境的配置</a:t>
            </a:r>
            <a:endParaRPr lang="zh-CN" altLang="en-US"/>
          </a:p>
          <a:p>
            <a:pPr lvl="0">
              <a:lnSpc>
                <a:spcPct val="120000"/>
              </a:lnSpc>
            </a:pPr>
            <a:r>
              <a:rPr lang="zh-CN" altLang="en-US"/>
              <a:t>难点</a:t>
            </a:r>
            <a:endParaRPr lang="zh-CN" altLang="en-US"/>
          </a:p>
          <a:p>
            <a:pPr lvl="1">
              <a:lnSpc>
                <a:spcPct val="120000"/>
              </a:lnSpc>
            </a:pPr>
            <a:r>
              <a:rPr lang="zh-CN" altLang="en-US"/>
              <a:t>区分多套环境</a:t>
            </a:r>
            <a:endParaRPr lang="zh-CN" altLang="en-US"/>
          </a:p>
          <a:p>
            <a:pPr lvl="1">
              <a:lnSpc>
                <a:spcPct val="120000"/>
              </a:lnSpc>
            </a:pPr>
            <a:r>
              <a:rPr lang="zh-CN" altLang="en-US"/>
              <a:t>区分多种微服务</a:t>
            </a:r>
            <a:endParaRPr lang="zh-CN" altLang="en-US"/>
          </a:p>
          <a:p>
            <a:pPr lvl="1">
              <a:lnSpc>
                <a:spcPct val="120000"/>
              </a:lnSpc>
            </a:pPr>
            <a:r>
              <a:rPr lang="zh-CN" altLang="en-US"/>
              <a:t>区分多种配置</a:t>
            </a:r>
            <a:endParaRPr lang="zh-CN" altLang="en-US"/>
          </a:p>
          <a:p>
            <a:pPr lvl="1">
              <a:lnSpc>
                <a:spcPct val="120000"/>
              </a:lnSpc>
            </a:pPr>
            <a:r>
              <a:rPr lang="zh-CN" altLang="en-US"/>
              <a:t>按需加载配置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矩形 42"/>
          <p:cNvSpPr/>
          <p:nvPr/>
        </p:nvSpPr>
        <p:spPr>
          <a:xfrm>
            <a:off x="1584325" y="1485900"/>
            <a:ext cx="1704340" cy="496760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633470" y="1486535"/>
            <a:ext cx="7202805" cy="15335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配置中心</a:t>
            </a:r>
            <a:r>
              <a:rPr lang="en-US" altLang="zh-CN"/>
              <a:t> -  </a:t>
            </a:r>
            <a:r>
              <a:rPr lang="zh-CN" altLang="en-US"/>
              <a:t>数据</a:t>
            </a:r>
            <a:r>
              <a:rPr lang="zh-CN" altLang="en-US"/>
              <a:t>隔离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48125" y="1687830"/>
            <a:ext cx="1379220" cy="6419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Namespace</a:t>
            </a:r>
            <a:endParaRPr lang="en-US" altLang="zh-CN"/>
          </a:p>
          <a:p>
            <a:r>
              <a:rPr lang="zh-CN" altLang="en-US"/>
              <a:t>名称空间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279515" y="1687830"/>
            <a:ext cx="1379220" cy="6419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Group</a:t>
            </a:r>
            <a:endParaRPr lang="en-US" altLang="zh-CN"/>
          </a:p>
          <a:p>
            <a:r>
              <a:rPr lang="zh-CN" altLang="en-US"/>
              <a:t>分组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637905" y="1941830"/>
            <a:ext cx="1379220" cy="6419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Data-id</a:t>
            </a:r>
            <a:endParaRPr lang="en-US" altLang="zh-CN"/>
          </a:p>
          <a:p>
            <a:r>
              <a:rPr lang="zh-CN" altLang="en-US"/>
              <a:t>数据集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406515" y="1814830"/>
            <a:ext cx="1379220" cy="6419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Group</a:t>
            </a:r>
            <a:endParaRPr lang="en-US" altLang="zh-CN"/>
          </a:p>
          <a:p>
            <a:r>
              <a:rPr lang="zh-CN" altLang="en-US"/>
              <a:t>分组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533515" y="1941830"/>
            <a:ext cx="1379220" cy="6419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Group</a:t>
            </a:r>
            <a:endParaRPr lang="en-US" altLang="zh-CN"/>
          </a:p>
          <a:p>
            <a:r>
              <a:rPr lang="zh-CN" altLang="en-US"/>
              <a:t>分组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764905" y="2068830"/>
            <a:ext cx="1379220" cy="6419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Data-id</a:t>
            </a:r>
            <a:endParaRPr lang="en-US" altLang="zh-CN"/>
          </a:p>
          <a:p>
            <a:r>
              <a:rPr lang="zh-CN" altLang="en-US"/>
              <a:t>数据集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1905" y="2195830"/>
            <a:ext cx="1379220" cy="6419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Data-id</a:t>
            </a:r>
            <a:endParaRPr lang="en-US" altLang="zh-CN"/>
          </a:p>
          <a:p>
            <a:r>
              <a:rPr lang="zh-CN" altLang="en-US"/>
              <a:t>数据集</a:t>
            </a:r>
            <a:endParaRPr lang="zh-CN" altLang="en-US"/>
          </a:p>
        </p:txBody>
      </p:sp>
      <p:cxnSp>
        <p:nvCxnSpPr>
          <p:cNvPr id="13" name="直接箭头连接符 12"/>
          <p:cNvCxnSpPr>
            <a:stCxn id="4" idx="3"/>
            <a:endCxn id="7" idx="1"/>
          </p:cNvCxnSpPr>
          <p:nvPr/>
        </p:nvCxnSpPr>
        <p:spPr>
          <a:xfrm>
            <a:off x="5427345" y="2009140"/>
            <a:ext cx="85217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10" idx="3"/>
            <a:endCxn id="8" idx="1"/>
          </p:cNvCxnSpPr>
          <p:nvPr/>
        </p:nvCxnSpPr>
        <p:spPr>
          <a:xfrm>
            <a:off x="7912735" y="2263140"/>
            <a:ext cx="72517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809115" y="2068830"/>
            <a:ext cx="1132840" cy="35433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zh-CN" altLang="en-US"/>
              <a:t>开发环境</a:t>
            </a:r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3633470" y="3280410"/>
            <a:ext cx="7202170" cy="1455420"/>
            <a:chOff x="5722" y="5166"/>
            <a:chExt cx="11342" cy="2292"/>
          </a:xfrm>
        </p:grpSpPr>
        <p:sp>
          <p:nvSpPr>
            <p:cNvPr id="17" name="矩形 16"/>
            <p:cNvSpPr/>
            <p:nvPr/>
          </p:nvSpPr>
          <p:spPr>
            <a:xfrm>
              <a:off x="5722" y="5166"/>
              <a:ext cx="11343" cy="2293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375" y="5483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Namespace</a:t>
              </a:r>
              <a:endParaRPr lang="en-US" altLang="zh-CN"/>
            </a:p>
            <a:p>
              <a:r>
                <a:rPr lang="zh-CN" altLang="en-US"/>
                <a:t>名称空间</a:t>
              </a:r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9889" y="5483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Group</a:t>
              </a:r>
              <a:endParaRPr lang="en-US" altLang="zh-CN"/>
            </a:p>
            <a:p>
              <a:r>
                <a:rPr lang="zh-CN" altLang="en-US"/>
                <a:t>分组</a:t>
              </a:r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3603" y="5883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Data-id</a:t>
              </a:r>
              <a:endParaRPr lang="en-US" altLang="zh-CN"/>
            </a:p>
            <a:p>
              <a:r>
                <a:rPr lang="zh-CN" altLang="en-US"/>
                <a:t>数据集</a:t>
              </a: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0089" y="5683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Group</a:t>
              </a:r>
              <a:endParaRPr lang="en-US" altLang="zh-CN"/>
            </a:p>
            <a:p>
              <a:r>
                <a:rPr lang="zh-CN" altLang="en-US"/>
                <a:t>分组</a:t>
              </a:r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10289" y="5883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Group</a:t>
              </a:r>
              <a:endParaRPr lang="en-US" altLang="zh-CN"/>
            </a:p>
            <a:p>
              <a:r>
                <a:rPr lang="zh-CN" altLang="en-US"/>
                <a:t>分组</a:t>
              </a:r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13803" y="6083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Data-id</a:t>
              </a:r>
              <a:endParaRPr lang="en-US" altLang="zh-CN"/>
            </a:p>
            <a:p>
              <a:r>
                <a:rPr lang="zh-CN" altLang="en-US"/>
                <a:t>数据集</a:t>
              </a:r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4003" y="6283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Data-id</a:t>
              </a:r>
              <a:endParaRPr lang="en-US" altLang="zh-CN"/>
            </a:p>
            <a:p>
              <a:r>
                <a:rPr lang="zh-CN" altLang="en-US"/>
                <a:t>数据集</a:t>
              </a:r>
              <a:endParaRPr lang="zh-CN" altLang="en-US"/>
            </a:p>
          </p:txBody>
        </p:sp>
        <p:cxnSp>
          <p:nvCxnSpPr>
            <p:cNvPr id="25" name="直接箭头连接符 24"/>
            <p:cNvCxnSpPr>
              <a:stCxn id="18" idx="3"/>
              <a:endCxn id="19" idx="1"/>
            </p:cNvCxnSpPr>
            <p:nvPr/>
          </p:nvCxnSpPr>
          <p:spPr>
            <a:xfrm>
              <a:off x="8547" y="5989"/>
              <a:ext cx="1342" cy="0"/>
            </a:xfrm>
            <a:prstGeom prst="straightConnector1">
              <a:avLst/>
            </a:prstGeom>
            <a:ln w="28575" cap="rnd" cmpd="sng">
              <a:solidFill>
                <a:schemeClr val="bg1"/>
              </a:solidFill>
              <a:prstDash val="solid"/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22" idx="3"/>
              <a:endCxn id="20" idx="1"/>
            </p:cNvCxnSpPr>
            <p:nvPr/>
          </p:nvCxnSpPr>
          <p:spPr>
            <a:xfrm>
              <a:off x="12461" y="6389"/>
              <a:ext cx="1142" cy="0"/>
            </a:xfrm>
            <a:prstGeom prst="straightConnector1">
              <a:avLst/>
            </a:prstGeom>
            <a:ln w="28575" cap="rnd" cmpd="sng">
              <a:solidFill>
                <a:schemeClr val="bg1"/>
              </a:solidFill>
              <a:prstDash val="solid"/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1809115" y="3822065"/>
            <a:ext cx="1132840" cy="35433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zh-CN" altLang="en-US"/>
              <a:t>测试环境</a:t>
            </a:r>
            <a:endParaRPr lang="zh-CN" altLang="en-US"/>
          </a:p>
        </p:txBody>
      </p:sp>
      <p:cxnSp>
        <p:nvCxnSpPr>
          <p:cNvPr id="27" name="直接箭头连接符 26"/>
          <p:cNvCxnSpPr>
            <a:stCxn id="16" idx="3"/>
            <a:endCxn id="15" idx="1"/>
          </p:cNvCxnSpPr>
          <p:nvPr/>
        </p:nvCxnSpPr>
        <p:spPr>
          <a:xfrm>
            <a:off x="2941955" y="2245995"/>
            <a:ext cx="691515" cy="762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6" idx="3"/>
            <a:endCxn id="17" idx="1"/>
          </p:cNvCxnSpPr>
          <p:nvPr/>
        </p:nvCxnSpPr>
        <p:spPr>
          <a:xfrm>
            <a:off x="2941955" y="3999230"/>
            <a:ext cx="691515" cy="952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3633470" y="4996815"/>
            <a:ext cx="7202170" cy="1455420"/>
            <a:chOff x="5722" y="7869"/>
            <a:chExt cx="11342" cy="2292"/>
          </a:xfrm>
        </p:grpSpPr>
        <p:sp>
          <p:nvSpPr>
            <p:cNvPr id="29" name="矩形 28"/>
            <p:cNvSpPr/>
            <p:nvPr/>
          </p:nvSpPr>
          <p:spPr>
            <a:xfrm>
              <a:off x="5722" y="7869"/>
              <a:ext cx="11343" cy="2293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6375" y="8186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Namespace</a:t>
              </a:r>
              <a:endParaRPr lang="en-US" altLang="zh-CN"/>
            </a:p>
            <a:p>
              <a:r>
                <a:rPr lang="zh-CN" altLang="en-US"/>
                <a:t>名称空间</a:t>
              </a:r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9889" y="8186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Group</a:t>
              </a:r>
              <a:endParaRPr lang="en-US" altLang="zh-CN"/>
            </a:p>
            <a:p>
              <a:r>
                <a:rPr lang="zh-CN" altLang="en-US"/>
                <a:t>分组</a:t>
              </a:r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3603" y="8586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Data-id</a:t>
              </a:r>
              <a:endParaRPr lang="en-US" altLang="zh-CN"/>
            </a:p>
            <a:p>
              <a:r>
                <a:rPr lang="zh-CN" altLang="en-US"/>
                <a:t>数据集</a:t>
              </a: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089" y="8386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Group</a:t>
              </a:r>
              <a:endParaRPr lang="en-US" altLang="zh-CN"/>
            </a:p>
            <a:p>
              <a:r>
                <a:rPr lang="zh-CN" altLang="en-US"/>
                <a:t>分组</a:t>
              </a:r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10289" y="8586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Group</a:t>
              </a:r>
              <a:endParaRPr lang="en-US" altLang="zh-CN"/>
            </a:p>
            <a:p>
              <a:r>
                <a:rPr lang="zh-CN" altLang="en-US"/>
                <a:t>分组</a:t>
              </a:r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13803" y="8786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Data-id</a:t>
              </a:r>
              <a:endParaRPr lang="en-US" altLang="zh-CN"/>
            </a:p>
            <a:p>
              <a:r>
                <a:rPr lang="zh-CN" altLang="en-US"/>
                <a:t>数据集</a:t>
              </a:r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4003" y="8986"/>
              <a:ext cx="2172" cy="1011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r>
                <a:rPr lang="en-US" altLang="zh-CN"/>
                <a:t>Data-id</a:t>
              </a:r>
              <a:endParaRPr lang="en-US" altLang="zh-CN"/>
            </a:p>
            <a:p>
              <a:r>
                <a:rPr lang="zh-CN" altLang="en-US"/>
                <a:t>数据集</a:t>
              </a:r>
              <a:endParaRPr lang="zh-CN" altLang="en-US"/>
            </a:p>
          </p:txBody>
        </p:sp>
        <p:cxnSp>
          <p:nvCxnSpPr>
            <p:cNvPr id="37" name="直接箭头连接符 36"/>
            <p:cNvCxnSpPr>
              <a:stCxn id="30" idx="3"/>
              <a:endCxn id="31" idx="1"/>
            </p:cNvCxnSpPr>
            <p:nvPr/>
          </p:nvCxnSpPr>
          <p:spPr>
            <a:xfrm>
              <a:off x="8547" y="8692"/>
              <a:ext cx="1342" cy="0"/>
            </a:xfrm>
            <a:prstGeom prst="straightConnector1">
              <a:avLst/>
            </a:prstGeom>
            <a:ln w="28575" cap="rnd" cmpd="sng">
              <a:solidFill>
                <a:schemeClr val="bg1"/>
              </a:solidFill>
              <a:prstDash val="solid"/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34" idx="3"/>
              <a:endCxn id="32" idx="1"/>
            </p:cNvCxnSpPr>
            <p:nvPr/>
          </p:nvCxnSpPr>
          <p:spPr>
            <a:xfrm>
              <a:off x="12461" y="9092"/>
              <a:ext cx="1142" cy="0"/>
            </a:xfrm>
            <a:prstGeom prst="straightConnector1">
              <a:avLst/>
            </a:prstGeom>
            <a:ln w="28575" cap="rnd" cmpd="sng">
              <a:solidFill>
                <a:schemeClr val="bg1"/>
              </a:solidFill>
              <a:prstDash val="solid"/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9" name="矩形 38"/>
          <p:cNvSpPr/>
          <p:nvPr/>
        </p:nvSpPr>
        <p:spPr>
          <a:xfrm>
            <a:off x="1809115" y="5538470"/>
            <a:ext cx="1132840" cy="35433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zh-CN" altLang="en-US"/>
              <a:t>生产环境</a:t>
            </a:r>
            <a:endParaRPr lang="zh-CN" altLang="en-US"/>
          </a:p>
        </p:txBody>
      </p:sp>
      <p:cxnSp>
        <p:nvCxnSpPr>
          <p:cNvPr id="40" name="直接箭头连接符 39"/>
          <p:cNvCxnSpPr>
            <a:stCxn id="39" idx="3"/>
            <a:endCxn id="29" idx="1"/>
          </p:cNvCxnSpPr>
          <p:nvPr/>
        </p:nvCxnSpPr>
        <p:spPr>
          <a:xfrm>
            <a:off x="2941955" y="5715635"/>
            <a:ext cx="691515" cy="952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右大括号 40"/>
          <p:cNvSpPr/>
          <p:nvPr/>
        </p:nvSpPr>
        <p:spPr>
          <a:xfrm>
            <a:off x="10884535" y="2336165"/>
            <a:ext cx="262890" cy="3543935"/>
          </a:xfrm>
          <a:prstGeom prst="rightBrace">
            <a:avLst>
              <a:gd name="adj1" fmla="val 8333"/>
              <a:gd name="adj2" fmla="val 48396"/>
            </a:avLst>
          </a:prstGeom>
          <a:ln w="28575" cap="rnd" cmpd="sng">
            <a:solidFill>
              <a:schemeClr val="bg1"/>
            </a:solidFill>
            <a:prstDash val="solid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746885" y="1118235"/>
            <a:ext cx="1379220" cy="69659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SpringBoot</a:t>
            </a:r>
            <a:endParaRPr lang="en-US" altLang="zh-CN"/>
          </a:p>
          <a:p>
            <a:r>
              <a:rPr lang="zh-CN" altLang="en-US"/>
              <a:t>定义多环境</a:t>
            </a:r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1147425" y="3863340"/>
            <a:ext cx="815340" cy="3873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/>
              <a:t>Nacos</a:t>
            </a:r>
            <a:endParaRPr lang="en-US"/>
          </a:p>
        </p:txBody>
      </p:sp>
      <p:sp>
        <p:nvSpPr>
          <p:cNvPr id="46" name="矩形 45"/>
          <p:cNvSpPr/>
          <p:nvPr/>
        </p:nvSpPr>
        <p:spPr>
          <a:xfrm>
            <a:off x="109220" y="3786505"/>
            <a:ext cx="786130" cy="363855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p>
            <a:r>
              <a:rPr lang="zh-CN" altLang="en-US"/>
              <a:t>激活</a:t>
            </a:r>
            <a:endParaRPr lang="zh-CN" altLang="en-US"/>
          </a:p>
        </p:txBody>
      </p:sp>
      <p:cxnSp>
        <p:nvCxnSpPr>
          <p:cNvPr id="47" name="直接箭头连接符 46"/>
          <p:cNvCxnSpPr>
            <a:stCxn id="46" idx="3"/>
            <a:endCxn id="43" idx="1"/>
          </p:cNvCxnSpPr>
          <p:nvPr/>
        </p:nvCxnSpPr>
        <p:spPr>
          <a:xfrm>
            <a:off x="895350" y="3968750"/>
            <a:ext cx="688975" cy="127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4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6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3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50" autoRev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3" dur="250" autoRev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250" autoRev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50" autoRev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0" grpId="0" animBg="1"/>
      <p:bldP spid="10" grpId="1" animBg="1"/>
      <p:bldP spid="8" grpId="0" animBg="1"/>
      <p:bldP spid="11" grpId="0" animBg="1"/>
      <p:bldP spid="12" grpId="0" animBg="1"/>
      <p:bldP spid="15" grpId="0" animBg="1"/>
      <p:bldP spid="41" grpId="0" animBg="1"/>
      <p:bldP spid="45" grpId="0" animBg="1"/>
      <p:bldP spid="44" grpId="0" animBg="1"/>
      <p:bldP spid="16" grpId="0" animBg="1"/>
      <p:bldP spid="6" grpId="0" animBg="1"/>
      <p:bldP spid="39" grpId="0" animBg="1"/>
      <p:bldP spid="15" grpId="1" animBg="1"/>
      <p:bldP spid="16" grpId="1" animBg="1"/>
      <p:bldP spid="6" grpId="1" animBg="1"/>
      <p:bldP spid="39" grpId="1" animBg="1"/>
      <p:bldP spid="43" grpId="0" animBg="1"/>
      <p:bldP spid="4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配置中心</a:t>
            </a:r>
            <a:r>
              <a:rPr lang="en-US" altLang="zh-CN"/>
              <a:t> -  </a:t>
            </a:r>
            <a:r>
              <a:rPr lang="zh-CN" altLang="en-US"/>
              <a:t>数据</a:t>
            </a:r>
            <a:r>
              <a:rPr lang="zh-CN" altLang="en-US"/>
              <a:t>隔离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375" y="1357630"/>
            <a:ext cx="9492615" cy="45802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49375" y="6148070"/>
            <a:ext cx="9962515" cy="46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altLang="zh-CN" sz="2000">
                <a:solidFill>
                  <a:srgbClr val="FFC000"/>
                </a:solidFill>
                <a:sym typeface="+mn-ea"/>
              </a:rPr>
              <a:t>namespace</a:t>
            </a:r>
            <a:r>
              <a:rPr lang="zh-CN" altLang="en-US" sz="2000">
                <a:solidFill>
                  <a:srgbClr val="FFC000"/>
                </a:solidFill>
                <a:sym typeface="+mn-ea"/>
              </a:rPr>
              <a:t>、</a:t>
            </a:r>
            <a:r>
              <a:rPr lang="en-US" altLang="zh-CN" sz="2000">
                <a:solidFill>
                  <a:srgbClr val="FFC000"/>
                </a:solidFill>
                <a:sym typeface="+mn-ea"/>
              </a:rPr>
              <a:t>dataId</a:t>
            </a:r>
            <a:r>
              <a:rPr lang="zh-CN" altLang="en-US" sz="2000">
                <a:solidFill>
                  <a:srgbClr val="FFC000"/>
                </a:solidFill>
                <a:sym typeface="+mn-ea"/>
              </a:rPr>
              <a:t>、</a:t>
            </a:r>
            <a:r>
              <a:rPr lang="en-US" altLang="zh-CN" sz="2000">
                <a:solidFill>
                  <a:srgbClr val="FFC000"/>
                </a:solidFill>
                <a:sym typeface="+mn-ea"/>
              </a:rPr>
              <a:t>group</a:t>
            </a:r>
            <a:r>
              <a:rPr lang="en-US" altLang="zh-CN" sz="2000">
                <a:sym typeface="+mn-ea"/>
              </a:rPr>
              <a:t> 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配合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FFC000"/>
                </a:solidFill>
                <a:sym typeface="+mn-ea"/>
              </a:rPr>
              <a:t>spring.config.activate.on-profile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实现配置环境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隔离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6" name="图形 3"/>
          <p:cNvSpPr/>
          <p:nvPr>
            <p:custDataLst>
              <p:tags r:id="rId1"/>
            </p:custDataLst>
          </p:nvPr>
        </p:nvSpPr>
        <p:spPr>
          <a:xfrm>
            <a:off x="733743" y="1419225"/>
            <a:ext cx="5656607" cy="4934454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图形 1"/>
          <p:cNvSpPr/>
          <p:nvPr>
            <p:custDataLst>
              <p:tags r:id="rId2"/>
            </p:custDataLst>
          </p:nvPr>
        </p:nvSpPr>
        <p:spPr>
          <a:xfrm flipH="1" flipV="1">
            <a:off x="5801678" y="1419225"/>
            <a:ext cx="5656607" cy="4934454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100138" y="2804795"/>
            <a:ext cx="4395629" cy="31794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1.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引入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 </a:t>
            </a:r>
            <a:r>
              <a:rPr lang="en-US" altLang="zh-CN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spring-cloud-starter-alibaba-nacos-discovery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依赖，配置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Nacos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地址</a:t>
            </a:r>
            <a:endParaRPr lang="zh-CN" altLang="en-US" sz="150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2. </a:t>
            </a:r>
            <a:r>
              <a:rPr lang="en-US" altLang="zh-CN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@EnableDiscoveryClient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开启服务发现功能</a:t>
            </a:r>
            <a:endParaRPr lang="zh-CN" altLang="en-US" sz="150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50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扩展：</a:t>
            </a:r>
            <a:endParaRPr lang="zh-CN" altLang="en-US" sz="150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    1. </a:t>
            </a:r>
            <a:r>
              <a:rPr lang="en-US" altLang="zh-CN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DiscoveryClient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获取服务实例列表</a:t>
            </a:r>
            <a:endParaRPr lang="zh-CN" altLang="en-US" sz="150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    2. </a:t>
            </a:r>
            <a:r>
              <a:rPr lang="en-US" altLang="zh-CN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LoadBalancerClient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负载均衡选择一个实例（需要引入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 spring-cloud-starter-loadbalancer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）</a:t>
            </a:r>
            <a:endParaRPr lang="zh-CN" altLang="en-US" sz="150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    3. </a:t>
            </a:r>
            <a:r>
              <a:rPr lang="en-US" altLang="zh-CN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RestTemplate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可以发起远程调用</a:t>
            </a:r>
            <a:endParaRPr lang="zh-CN" altLang="en-US" sz="150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6709410" y="2804795"/>
            <a:ext cx="4443095" cy="31794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1.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引入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</a:t>
            </a:r>
            <a:r>
              <a:rPr lang="en-US" altLang="zh-CN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spring-cloud-starter-alibaba-nacos-config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依赖，配置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Nacos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地址</a:t>
            </a:r>
            <a:endParaRPr lang="zh-CN" altLang="en-US" sz="1500" dirty="0">
              <a:ln>
                <a:noFill/>
                <a:prstDash val="sysDot"/>
              </a:ln>
              <a:solidFill>
                <a:schemeClr val="bg1"/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2.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添加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</a:t>
            </a:r>
            <a:r>
              <a:rPr lang="zh-CN" altLang="en-US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数据集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（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data-id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），使用</a:t>
            </a:r>
            <a:r>
              <a:rPr lang="en-US" altLang="zh-CN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spring.config.import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导入数据集</a:t>
            </a:r>
            <a:endParaRPr lang="zh-CN" altLang="en-US" sz="1500" dirty="0">
              <a:ln>
                <a:noFill/>
                <a:prstDash val="sysDot"/>
              </a:ln>
              <a:solidFill>
                <a:schemeClr val="bg1"/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3. </a:t>
            </a:r>
            <a:r>
              <a:rPr lang="en-US" altLang="zh-CN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@Value + @RefreshScope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取值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+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自动刷新</a:t>
            </a:r>
            <a:endParaRPr lang="zh-CN" altLang="en-US" sz="1500" dirty="0">
              <a:ln>
                <a:noFill/>
                <a:prstDash val="sysDot"/>
              </a:ln>
              <a:solidFill>
                <a:schemeClr val="bg1"/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  <a:sym typeface="+mn-ea"/>
              </a:rPr>
              <a:t>4. @ConfigurationProperties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  <a:sym typeface="+mn-ea"/>
              </a:rPr>
              <a:t>批量绑定自动刷新</a:t>
            </a:r>
            <a:endParaRPr lang="zh-CN" altLang="en-US" sz="1500" dirty="0">
              <a:ln>
                <a:noFill/>
                <a:prstDash val="sysDot"/>
              </a:ln>
              <a:solidFill>
                <a:schemeClr val="bg1"/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5. </a:t>
            </a:r>
            <a:r>
              <a:rPr lang="en-US" altLang="zh-CN" sz="1500" b="1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</a:rPr>
              <a:t>NacosConfigManager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监听配置变化</a:t>
            </a:r>
            <a:endParaRPr lang="zh-CN" altLang="en-US" sz="1500" dirty="0">
              <a:ln>
                <a:noFill/>
                <a:prstDash val="sysDot"/>
              </a:ln>
              <a:solidFill>
                <a:schemeClr val="bg1"/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扩展：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</a:t>
            </a:r>
            <a:endParaRPr lang="zh-CN" altLang="en-US" sz="1500" dirty="0">
              <a:ln>
                <a:noFill/>
                <a:prstDash val="sysDot"/>
              </a:ln>
              <a:solidFill>
                <a:schemeClr val="bg1"/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   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配置优先级；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namespace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区分环境、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group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区分微服务、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data-id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区分配置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实现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 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数据隔离</a:t>
            </a:r>
            <a:r>
              <a:rPr lang="en-US" altLang="zh-CN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+</a:t>
            </a:r>
            <a:r>
              <a:rPr lang="zh-CN" altLang="en-US" sz="15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</a:rPr>
              <a:t>环境切换</a:t>
            </a:r>
            <a:endParaRPr lang="zh-CN" altLang="en-US" sz="1500" dirty="0">
              <a:ln>
                <a:noFill/>
                <a:prstDash val="sysDot"/>
              </a:ln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44" name="标题"/>
          <p:cNvSpPr txBox="1"/>
          <p:nvPr>
            <p:custDataLst>
              <p:tags r:id="rId5"/>
            </p:custDataLst>
          </p:nvPr>
        </p:nvSpPr>
        <p:spPr>
          <a:xfrm>
            <a:off x="1100138" y="1808480"/>
            <a:ext cx="3807460" cy="958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2000" b="1" spc="300" dirty="0">
                <a:solidFill>
                  <a:srgbClr val="FFFFFF"/>
                </a:solidFill>
                <a:latin typeface="+mn-ea"/>
              </a:rPr>
              <a:t>注册中心</a:t>
            </a:r>
            <a:endParaRPr lang="zh-CN" altLang="en-US" sz="2000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" name="标题"/>
          <p:cNvSpPr txBox="1"/>
          <p:nvPr>
            <p:custDataLst>
              <p:tags r:id="rId6"/>
            </p:custDataLst>
          </p:nvPr>
        </p:nvSpPr>
        <p:spPr>
          <a:xfrm>
            <a:off x="7345363" y="1808480"/>
            <a:ext cx="3807460" cy="958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r"/>
            <a:r>
              <a:rPr lang="zh-CN" altLang="en-US" sz="2000" b="1" spc="300" dirty="0">
                <a:solidFill>
                  <a:schemeClr val="bg1"/>
                </a:solidFill>
                <a:latin typeface="+mn-ea"/>
              </a:rPr>
              <a:t>配置中心</a:t>
            </a:r>
            <a:endParaRPr lang="zh-CN" altLang="en-US" sz="2000" b="1" spc="30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3. OpenFeign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远程调用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Declarative REST Client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930775"/>
          </a:xfrm>
        </p:spPr>
        <p:txBody>
          <a:bodyPr/>
          <a:p>
            <a:r>
              <a:rPr lang="zh-CN" altLang="en-US" b="1">
                <a:solidFill>
                  <a:srgbClr val="FFC000"/>
                </a:solidFill>
              </a:rPr>
              <a:t>声明式</a:t>
            </a:r>
            <a:r>
              <a:rPr lang="en-US" altLang="zh-CN" b="1">
                <a:solidFill>
                  <a:srgbClr val="FFC000"/>
                </a:solidFill>
              </a:rPr>
              <a:t> </a:t>
            </a:r>
            <a:r>
              <a:rPr lang="en-US" altLang="zh-CN">
                <a:solidFill>
                  <a:srgbClr val="00B050"/>
                </a:solidFill>
              </a:rPr>
              <a:t>REST </a:t>
            </a:r>
            <a:r>
              <a:rPr lang="zh-CN" altLang="en-US">
                <a:solidFill>
                  <a:srgbClr val="00B050"/>
                </a:solidFill>
              </a:rPr>
              <a:t>客户端</a:t>
            </a:r>
            <a:r>
              <a:rPr lang="en-US" altLang="zh-CN"/>
              <a:t>   vs  </a:t>
            </a:r>
            <a:r>
              <a:rPr lang="zh-CN" altLang="en-US" b="1">
                <a:solidFill>
                  <a:srgbClr val="FFC000"/>
                </a:solidFill>
              </a:rPr>
              <a:t>编程式</a:t>
            </a:r>
            <a:r>
              <a:rPr lang="en-US" altLang="zh-CN" b="1">
                <a:solidFill>
                  <a:srgbClr val="FFC000"/>
                </a:solidFill>
              </a:rPr>
              <a:t> 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REST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客户端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RestTemplate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/>
              <a:t>注解驱动</a:t>
            </a:r>
            <a:endParaRPr lang="zh-CN" altLang="en-US"/>
          </a:p>
          <a:p>
            <a:pPr lvl="1"/>
            <a:r>
              <a:rPr lang="zh-CN" altLang="en-US"/>
              <a:t>指定</a:t>
            </a:r>
            <a:r>
              <a:rPr lang="zh-CN" altLang="en-US">
                <a:solidFill>
                  <a:srgbClr val="FFC000"/>
                </a:solidFill>
              </a:rPr>
              <a:t>远程地址</a:t>
            </a:r>
            <a:r>
              <a:rPr lang="zh-CN" altLang="en-US"/>
              <a:t>：</a:t>
            </a:r>
            <a:r>
              <a:rPr lang="en-US" altLang="zh-CN"/>
              <a:t>@FeignClient</a:t>
            </a:r>
            <a:endParaRPr lang="zh-CN" altLang="en-US"/>
          </a:p>
          <a:p>
            <a:pPr lvl="1"/>
            <a:r>
              <a:rPr lang="zh-CN" altLang="en-US"/>
              <a:t>指定</a:t>
            </a:r>
            <a:r>
              <a:rPr lang="zh-CN" altLang="en-US">
                <a:solidFill>
                  <a:srgbClr val="FFC000"/>
                </a:solidFill>
              </a:rPr>
              <a:t>请求方式</a:t>
            </a:r>
            <a:r>
              <a:rPr lang="zh-CN" altLang="en-US"/>
              <a:t>：</a:t>
            </a:r>
            <a:r>
              <a:rPr lang="en-US" altLang="zh-CN"/>
              <a:t>@GetMapping</a:t>
            </a:r>
            <a:r>
              <a:rPr lang="zh-CN" altLang="en-US"/>
              <a:t>、</a:t>
            </a:r>
            <a:r>
              <a:rPr lang="en-US" altLang="zh-CN"/>
              <a:t>@PostMapping</a:t>
            </a:r>
            <a:r>
              <a:rPr lang="zh-CN" altLang="en-US"/>
              <a:t>、</a:t>
            </a:r>
            <a:r>
              <a:rPr lang="en-US" altLang="zh-CN"/>
              <a:t>@DeleteMapping ...</a:t>
            </a:r>
            <a:endParaRPr lang="en-US" altLang="zh-CN"/>
          </a:p>
          <a:p>
            <a:pPr lvl="1"/>
            <a:r>
              <a:rPr lang="zh-CN" altLang="en-US"/>
              <a:t>指定</a:t>
            </a:r>
            <a:r>
              <a:rPr lang="zh-CN" altLang="en-US">
                <a:solidFill>
                  <a:srgbClr val="FFC000"/>
                </a:solidFill>
              </a:rPr>
              <a:t>携带数据</a:t>
            </a:r>
            <a:r>
              <a:rPr lang="zh-CN" altLang="en-US"/>
              <a:t>：</a:t>
            </a:r>
            <a:r>
              <a:rPr lang="en-US" altLang="zh-CN"/>
              <a:t>@RequestHeader</a:t>
            </a:r>
            <a:r>
              <a:rPr lang="zh-CN" altLang="en-US"/>
              <a:t>、</a:t>
            </a:r>
            <a:r>
              <a:rPr lang="en-US" altLang="zh-CN"/>
              <a:t>@RequestParam</a:t>
            </a:r>
            <a:r>
              <a:rPr lang="zh-CN" altLang="en-US"/>
              <a:t>、</a:t>
            </a:r>
            <a:r>
              <a:rPr lang="en-US" altLang="zh-CN">
                <a:sym typeface="+mn-ea"/>
              </a:rPr>
              <a:t>@RequestBody</a:t>
            </a:r>
            <a:r>
              <a:rPr lang="en-US" altLang="zh-CN"/>
              <a:t> ...</a:t>
            </a:r>
            <a:endParaRPr lang="en-US" altLang="zh-CN"/>
          </a:p>
          <a:p>
            <a:pPr lvl="1"/>
            <a:r>
              <a:rPr lang="zh-CN" altLang="en-US"/>
              <a:t>指定</a:t>
            </a:r>
            <a:r>
              <a:rPr lang="zh-CN" altLang="en-US">
                <a:solidFill>
                  <a:srgbClr val="FFC000"/>
                </a:solidFill>
              </a:rPr>
              <a:t>结果返回</a:t>
            </a:r>
            <a:r>
              <a:rPr lang="zh-CN" altLang="en-US"/>
              <a:t>：响应模型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4430" y="4921885"/>
            <a:ext cx="6465570" cy="124650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        &lt;dependency&gt;</a:t>
            </a:r>
            <a:endParaRPr lang="en-US" altLang="zh-CN"/>
          </a:p>
          <a:p>
            <a:r>
              <a:rPr lang="en-US" altLang="zh-CN"/>
              <a:t>            &lt;groupId&gt;</a:t>
            </a:r>
            <a:r>
              <a:rPr lang="en-US" altLang="zh-CN">
                <a:solidFill>
                  <a:srgbClr val="FFC000"/>
                </a:solidFill>
              </a:rPr>
              <a:t>org.springframework.cloud</a:t>
            </a:r>
            <a:r>
              <a:rPr lang="en-US" altLang="zh-CN"/>
              <a:t>&lt;/groupId&gt;</a:t>
            </a:r>
            <a:endParaRPr lang="en-US" altLang="zh-CN"/>
          </a:p>
          <a:p>
            <a:r>
              <a:rPr lang="en-US" altLang="zh-CN"/>
              <a:t>            &lt;artifactId&gt;</a:t>
            </a:r>
            <a:r>
              <a:rPr lang="en-US" altLang="zh-CN">
                <a:solidFill>
                  <a:srgbClr val="FFC000"/>
                </a:solidFill>
              </a:rPr>
              <a:t>spring-cloud-starter-openfeign</a:t>
            </a:r>
            <a:r>
              <a:rPr lang="en-US" altLang="zh-CN"/>
              <a:t>&lt;/artifactId&gt;</a:t>
            </a:r>
            <a:endParaRPr lang="en-US" altLang="zh-CN"/>
          </a:p>
          <a:p>
            <a:r>
              <a:rPr lang="en-US" altLang="zh-CN"/>
              <a:t>        &lt;/dependency&gt;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6602730" y="3370580"/>
            <a:ext cx="4846955" cy="153225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远程调用</a:t>
            </a:r>
            <a:r>
              <a:rPr lang="en-US" altLang="zh-CN"/>
              <a:t> - </a:t>
            </a:r>
            <a:r>
              <a:rPr lang="zh-CN" altLang="en-US"/>
              <a:t>业务</a:t>
            </a:r>
            <a:r>
              <a:rPr lang="en-US" altLang="zh-CN"/>
              <a:t>API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832610" y="2019935"/>
            <a:ext cx="1810385" cy="65151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订单服务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121015" y="2019935"/>
            <a:ext cx="1810385" cy="65151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商品服务</a:t>
            </a:r>
            <a:endParaRPr lang="zh-CN" altLang="en-US"/>
          </a:p>
        </p:txBody>
      </p:sp>
      <p:cxnSp>
        <p:nvCxnSpPr>
          <p:cNvPr id="6" name="直接箭头连接符 5"/>
          <p:cNvCxnSpPr>
            <a:stCxn id="4" idx="3"/>
            <a:endCxn id="5" idx="1"/>
          </p:cNvCxnSpPr>
          <p:nvPr/>
        </p:nvCxnSpPr>
        <p:spPr>
          <a:xfrm>
            <a:off x="3642995" y="2345690"/>
            <a:ext cx="447802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853555" y="3534410"/>
            <a:ext cx="4177030" cy="45974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GET  http://service-product/product/{id}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853555" y="4263390"/>
            <a:ext cx="1034415" cy="45974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Product</a:t>
            </a:r>
            <a:endParaRPr lang="en-US" altLang="zh-CN"/>
          </a:p>
        </p:txBody>
      </p:sp>
      <p:cxnSp>
        <p:nvCxnSpPr>
          <p:cNvPr id="11" name="肘形连接符 10"/>
          <p:cNvCxnSpPr>
            <a:stCxn id="9" idx="1"/>
            <a:endCxn id="4" idx="2"/>
          </p:cNvCxnSpPr>
          <p:nvPr/>
        </p:nvCxnSpPr>
        <p:spPr>
          <a:xfrm rot="10800000">
            <a:off x="2738120" y="2671445"/>
            <a:ext cx="3864610" cy="1465580"/>
          </a:xfrm>
          <a:prstGeom prst="bentConnector2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208145" y="1813560"/>
            <a:ext cx="2645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1. </a:t>
            </a:r>
            <a:r>
              <a:rPr lang="zh-CN" altLang="en-US">
                <a:solidFill>
                  <a:srgbClr val="FFC000"/>
                </a:solidFill>
              </a:rPr>
              <a:t>发起调用</a:t>
            </a:r>
            <a:r>
              <a:rPr lang="en-US" altLang="zh-CN">
                <a:solidFill>
                  <a:srgbClr val="FFC000"/>
                </a:solidFill>
              </a:rPr>
              <a:t> &amp; </a:t>
            </a:r>
            <a:r>
              <a:rPr lang="zh-CN" altLang="en-US">
                <a:solidFill>
                  <a:srgbClr val="FFC000"/>
                </a:solidFill>
              </a:rPr>
              <a:t>负载均衡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32555" y="3700145"/>
            <a:ext cx="1525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2. </a:t>
            </a:r>
            <a:r>
              <a:rPr lang="zh-CN" altLang="en-US">
                <a:solidFill>
                  <a:srgbClr val="FFC000"/>
                </a:solidFill>
              </a:rPr>
              <a:t>获取响应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01645" y="2584450"/>
            <a:ext cx="1522730" cy="355600"/>
          </a:xfrm>
          <a:prstGeom prst="rect">
            <a:avLst/>
          </a:prstGeom>
          <a:solidFill>
            <a:srgbClr val="FFC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RestTemplate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01645" y="2940050"/>
            <a:ext cx="1522730" cy="35560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>
                <a:solidFill>
                  <a:schemeClr val="bg1"/>
                </a:solidFill>
              </a:rPr>
              <a:t>OpenFeign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6" name="直接箭头连接符 15"/>
          <p:cNvCxnSpPr>
            <a:stCxn id="5" idx="2"/>
            <a:endCxn id="9" idx="0"/>
          </p:cNvCxnSpPr>
          <p:nvPr/>
        </p:nvCxnSpPr>
        <p:spPr>
          <a:xfrm>
            <a:off x="9026525" y="2671445"/>
            <a:ext cx="0" cy="69913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48015" y="1932940"/>
            <a:ext cx="1810385" cy="65151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商品服务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375015" y="1845945"/>
            <a:ext cx="1810385" cy="65151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商品服务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745" y="5499735"/>
            <a:ext cx="5510530" cy="81216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4017010" y="5518785"/>
            <a:ext cx="2482215" cy="419100"/>
          </a:xfrm>
          <a:prstGeom prst="rect">
            <a:avLst/>
          </a:prstGeom>
          <a:ln w="38100">
            <a:solidFill>
              <a:srgbClr val="FF0000"/>
            </a:solidFill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远程调用</a:t>
            </a:r>
            <a:r>
              <a:rPr lang="en-US" altLang="zh-CN"/>
              <a:t> - </a:t>
            </a:r>
            <a:r>
              <a:rPr lang="zh-CN" altLang="en-US"/>
              <a:t>第三方</a:t>
            </a:r>
            <a:r>
              <a:rPr lang="en-US" altLang="zh-CN"/>
              <a:t>API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028700" y="1359535"/>
            <a:ext cx="7442835" cy="38290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 b="1">
                <a:solidFill>
                  <a:srgbClr val="FFC000"/>
                </a:solidFill>
              </a:rPr>
              <a:t>POST       </a:t>
            </a:r>
            <a:r>
              <a:rPr lang="en-US" altLang="zh-CN"/>
              <a:t>http://aliv18.data.moji.com/whapi/json/alicityweather/condition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8700" y="2108835"/>
            <a:ext cx="7442835" cy="103441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28700" y="2108835"/>
            <a:ext cx="374015" cy="10350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请求头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938655" y="2439670"/>
            <a:ext cx="1619250" cy="37401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Authorization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47465" y="2258060"/>
            <a:ext cx="4290695" cy="698500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APPCODE 93b7e19861a24c519a7548b17dc16d75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028700" y="3385185"/>
            <a:ext cx="7442835" cy="14173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28700" y="3385185"/>
            <a:ext cx="374015" cy="14173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请求参数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938655" y="3716020"/>
            <a:ext cx="1619250" cy="37401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token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3847465" y="3716020"/>
            <a:ext cx="4290695" cy="374015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50b53ff8dd7d9fa320d3d3ca32cf8ed1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1938655" y="4217035"/>
            <a:ext cx="1619250" cy="37401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cityId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3847465" y="4217035"/>
            <a:ext cx="4290695" cy="374015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2182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1028700" y="5160645"/>
            <a:ext cx="9932670" cy="141160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p>
            <a:pPr algn="l"/>
            <a:r>
              <a:rPr lang="en-US" altLang="zh-CN" sz="1400"/>
              <a:t>{"code":0,"data":{"city":{"cityId":2182,"counname":"</a:t>
            </a:r>
            <a:r>
              <a:rPr lang="zh-CN" altLang="en-US" sz="1400"/>
              <a:t>中国</a:t>
            </a:r>
            <a:r>
              <a:rPr lang="en-US" altLang="zh-CN" sz="1400"/>
              <a:t>","ianatimezone":"Asia/Shanghai","name":"</a:t>
            </a:r>
            <a:r>
              <a:rPr lang="zh-CN" altLang="en-US" sz="1400"/>
              <a:t>西安市</a:t>
            </a:r>
            <a:r>
              <a:rPr lang="en-US" altLang="zh-CN" sz="1400"/>
              <a:t>","pname":"</a:t>
            </a:r>
            <a:r>
              <a:rPr lang="zh-CN" altLang="en-US" sz="1400"/>
              <a:t>陕西省</a:t>
            </a:r>
            <a:r>
              <a:rPr lang="en-US" altLang="zh-CN" sz="1400"/>
              <a:t>","secondaryname":"</a:t>
            </a:r>
            <a:r>
              <a:rPr lang="zh-CN" altLang="en-US" sz="1400"/>
              <a:t>陕西省</a:t>
            </a:r>
            <a:r>
              <a:rPr lang="en-US" altLang="zh-CN" sz="1400"/>
              <a:t>","timezone":"8"},"condition":{"condition":"</a:t>
            </a:r>
            <a:r>
              <a:rPr lang="zh-CN" altLang="en-US" sz="1400"/>
              <a:t>晴</a:t>
            </a:r>
            <a:r>
              <a:rPr lang="en-US" altLang="zh-CN" sz="1400"/>
              <a:t>","conditionId":"5","humidity":"37","icon":"0","pressure":"984","realFeel":"3","sunRise":"2024-12-25 07:49:00","sunSet":"2024-12-25 17:41:00","temp":"6","tips":"</a:t>
            </a:r>
            <a:r>
              <a:rPr lang="zh-CN" altLang="en-US" sz="1400"/>
              <a:t>天冷了，该加衣服了！</a:t>
            </a:r>
            <a:r>
              <a:rPr lang="en-US" altLang="zh-CN" sz="1400"/>
              <a:t>","updatetime":"2024-12-25 12:15:08","uvi":"4","vis":"16100","windDegrees":"225","windDir":"</a:t>
            </a:r>
            <a:r>
              <a:rPr lang="zh-CN" altLang="en-US" sz="1400"/>
              <a:t>西南风</a:t>
            </a:r>
            <a:r>
              <a:rPr lang="en-US" altLang="zh-CN" sz="1400"/>
              <a:t>","windLevel":"2","windSpeed":"2.39"}},"msg":"success","rc":{"c":0,"p":"success"}}</a:t>
            </a:r>
            <a:endParaRPr lang="en-US" altLang="zh-CN" sz="1400"/>
          </a:p>
        </p:txBody>
      </p:sp>
      <p:pic>
        <p:nvPicPr>
          <p:cNvPr id="17" name="图片 16"/>
          <p:cNvPicPr/>
          <p:nvPr/>
        </p:nvPicPr>
        <p:blipFill>
          <a:blip r:embed="rId1"/>
          <a:stretch>
            <a:fillRect/>
          </a:stretch>
        </p:blipFill>
        <p:spPr>
          <a:xfrm>
            <a:off x="8835390" y="1416685"/>
            <a:ext cx="2214880" cy="15398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0975"/>
            <a:ext cx="10515600" cy="1134745"/>
          </a:xfrm>
        </p:spPr>
        <p:txBody>
          <a:bodyPr>
            <a:normAutofit fontScale="90000"/>
          </a:bodyPr>
          <a:p>
            <a:r>
              <a:rPr lang="zh-CN" altLang="en-US"/>
              <a:t>小技巧：如何编写好</a:t>
            </a:r>
            <a:r>
              <a:rPr lang="en-US" altLang="zh-CN"/>
              <a:t>OpenFeign</a:t>
            </a:r>
            <a:r>
              <a:rPr lang="zh-CN" altLang="en-US"/>
              <a:t>声明式的远程调用接口</a:t>
            </a:r>
            <a:endParaRPr lang="zh-CN" altLang="en-US"/>
          </a:p>
          <a:p>
            <a:pPr marL="457200" lvl="2"/>
            <a:r>
              <a:rPr lang="zh-CN" altLang="en-US">
                <a:solidFill>
                  <a:srgbClr val="FFC000"/>
                </a:solidFill>
                <a:sym typeface="+mn-ea"/>
              </a:rPr>
              <a:t>业务</a:t>
            </a:r>
            <a:r>
              <a:rPr lang="en-US" altLang="zh-CN">
                <a:solidFill>
                  <a:srgbClr val="FFC000"/>
                </a:solidFill>
                <a:sym typeface="+mn-ea"/>
              </a:rPr>
              <a:t>API</a:t>
            </a:r>
            <a:r>
              <a:rPr lang="zh-CN" altLang="en-US">
                <a:solidFill>
                  <a:srgbClr val="FFC000"/>
                </a:solidFill>
                <a:sym typeface="+mn-ea"/>
              </a:rPr>
              <a:t>：</a:t>
            </a:r>
            <a:r>
              <a:rPr lang="zh-CN" altLang="en-US">
                <a:sym typeface="+mn-ea"/>
              </a:rPr>
              <a:t>直接复制对方</a:t>
            </a:r>
            <a:r>
              <a:rPr lang="en-US" altLang="zh-CN">
                <a:sym typeface="+mn-ea"/>
              </a:rPr>
              <a:t>Controller</a:t>
            </a:r>
            <a:r>
              <a:rPr lang="zh-CN" altLang="en-US">
                <a:sym typeface="+mn-ea"/>
              </a:rPr>
              <a:t>签名即可</a:t>
            </a:r>
            <a:endParaRPr lang="zh-CN" altLang="en-US">
              <a:sym typeface="+mn-ea"/>
            </a:endParaRPr>
          </a:p>
          <a:p>
            <a:pPr marL="457200" lvl="2"/>
            <a:r>
              <a:rPr lang="zh-CN" altLang="en-US">
                <a:solidFill>
                  <a:srgbClr val="FFC000"/>
                </a:solidFill>
                <a:sym typeface="+mn-ea"/>
              </a:rPr>
              <a:t>第三方</a:t>
            </a:r>
            <a:r>
              <a:rPr lang="en-US" altLang="zh-CN">
                <a:solidFill>
                  <a:srgbClr val="FFC000"/>
                </a:solidFill>
                <a:sym typeface="+mn-ea"/>
              </a:rPr>
              <a:t>API</a:t>
            </a:r>
            <a:r>
              <a:rPr lang="zh-CN" altLang="en-US">
                <a:solidFill>
                  <a:srgbClr val="FFC000"/>
                </a:solidFill>
                <a:sym typeface="+mn-ea"/>
              </a:rPr>
              <a:t>：</a:t>
            </a:r>
            <a:r>
              <a:rPr lang="zh-CN" altLang="en-US">
                <a:sym typeface="+mn-ea"/>
              </a:rPr>
              <a:t>根据接口文档确定请求如何发</a:t>
            </a:r>
            <a:endParaRPr lang="zh-CN" altLang="en-US"/>
          </a:p>
          <a:p>
            <a:pPr marL="0" lvl="1"/>
            <a:endParaRPr lang="zh-CN"/>
          </a:p>
          <a:p>
            <a:pPr lvl="1"/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31340" y="3198495"/>
            <a:ext cx="80498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C000"/>
                </a:solidFill>
                <a:sym typeface="+mn-ea"/>
              </a:rPr>
              <a:t>面试题：客户端负载均衡与服务端负载均衡区别</a:t>
            </a:r>
            <a:endParaRPr lang="zh-CN" altLang="en-US" sz="2400">
              <a:solidFill>
                <a:srgbClr val="FFC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265" y="578485"/>
            <a:ext cx="8477885" cy="570166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进阶用法</a:t>
            </a:r>
            <a:r>
              <a:rPr lang="en-US" altLang="zh-CN"/>
              <a:t> - </a:t>
            </a:r>
            <a:r>
              <a:rPr lang="zh-CN" altLang="en-US"/>
              <a:t>日志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29985" y="3924300"/>
            <a:ext cx="4100195" cy="138874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l"/>
            <a:r>
              <a:rPr lang="en-US" altLang="zh-CN">
                <a:solidFill>
                  <a:srgbClr val="FFC000"/>
                </a:solidFill>
              </a:rPr>
              <a:t>@Bean</a:t>
            </a:r>
            <a:endParaRPr lang="en-US" altLang="zh-CN">
              <a:solidFill>
                <a:srgbClr val="FFC000"/>
              </a:solidFill>
            </a:endParaRPr>
          </a:p>
          <a:p>
            <a:pPr algn="l"/>
            <a:r>
              <a:rPr lang="en-US" altLang="zh-CN">
                <a:solidFill>
                  <a:srgbClr val="FFC000"/>
                </a:solidFill>
              </a:rPr>
              <a:t>Logger.Level</a:t>
            </a:r>
            <a:r>
              <a:rPr lang="en-US" altLang="zh-CN"/>
              <a:t> feignLoggerLevel() {</a:t>
            </a:r>
            <a:endParaRPr lang="en-US" altLang="zh-CN"/>
          </a:p>
          <a:p>
            <a:pPr algn="l"/>
            <a:r>
              <a:rPr lang="en-US" altLang="zh-CN"/>
              <a:t>         return </a:t>
            </a:r>
            <a:r>
              <a:rPr lang="en-US" altLang="zh-CN">
                <a:solidFill>
                  <a:srgbClr val="FFC000"/>
                </a:solidFill>
              </a:rPr>
              <a:t>Logger.Level.FULL;</a:t>
            </a:r>
            <a:endParaRPr lang="en-US" altLang="zh-CN"/>
          </a:p>
          <a:p>
            <a:pPr algn="l"/>
            <a:r>
              <a:rPr lang="en-US" altLang="zh-CN"/>
              <a:t>}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765" y="3924300"/>
            <a:ext cx="4050030" cy="98933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689735" y="2211070"/>
            <a:ext cx="1695450" cy="5556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OpenFeign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7812405" y="2211070"/>
            <a:ext cx="1695450" cy="5556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API</a:t>
            </a:r>
            <a:endParaRPr lang="en-US" altLang="zh-CN"/>
          </a:p>
        </p:txBody>
      </p:sp>
      <p:cxnSp>
        <p:nvCxnSpPr>
          <p:cNvPr id="9" name="直接箭头连接符 8"/>
          <p:cNvCxnSpPr>
            <a:stCxn id="7" idx="3"/>
            <a:endCxn id="8" idx="1"/>
          </p:cNvCxnSpPr>
          <p:nvPr/>
        </p:nvCxnSpPr>
        <p:spPr>
          <a:xfrm>
            <a:off x="3385185" y="2489200"/>
            <a:ext cx="442722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849370" y="1866265"/>
            <a:ext cx="1771650" cy="34480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详细请求信息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矩形 33"/>
          <p:cNvSpPr/>
          <p:nvPr/>
        </p:nvSpPr>
        <p:spPr>
          <a:xfrm>
            <a:off x="227965" y="5446395"/>
            <a:ext cx="11599545" cy="1092835"/>
          </a:xfrm>
          <a:prstGeom prst="rect">
            <a:avLst/>
          </a:prstGeom>
          <a:solidFill>
            <a:srgbClr val="00B0F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anchorCtr="0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96860" y="1503680"/>
            <a:ext cx="2508885" cy="13411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t" anchorCtr="0"/>
          <a:p>
            <a:pPr algn="l"/>
            <a:r>
              <a:rPr lang="zh-CN" altLang="en-US"/>
              <a:t>商品服务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649730" y="1503680"/>
            <a:ext cx="2508885" cy="13411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t" anchorCtr="0"/>
          <a:p>
            <a:pPr algn="l"/>
            <a:r>
              <a:rPr lang="zh-CN" altLang="en-US"/>
              <a:t>订单服务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进阶用法</a:t>
            </a:r>
            <a:r>
              <a:rPr lang="en-US" altLang="zh-CN"/>
              <a:t> - </a:t>
            </a:r>
            <a:r>
              <a:rPr lang="zh-CN" altLang="en-US"/>
              <a:t>超时控制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239010" y="2059305"/>
            <a:ext cx="1695450" cy="555625"/>
          </a:xfrm>
          <a:prstGeom prst="rect">
            <a:avLst/>
          </a:prstGeom>
          <a:solidFill>
            <a:srgbClr val="FFC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OpenFeign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303895" y="2059305"/>
            <a:ext cx="1695450" cy="5556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API</a:t>
            </a:r>
            <a:endParaRPr lang="en-US" altLang="zh-CN"/>
          </a:p>
        </p:txBody>
      </p:sp>
      <p:cxnSp>
        <p:nvCxnSpPr>
          <p:cNvPr id="13" name="直接箭头连接符 12"/>
          <p:cNvCxnSpPr>
            <a:stCxn id="11" idx="3"/>
            <a:endCxn id="12" idx="1"/>
          </p:cNvCxnSpPr>
          <p:nvPr/>
        </p:nvCxnSpPr>
        <p:spPr>
          <a:xfrm>
            <a:off x="3934460" y="2337435"/>
            <a:ext cx="4369435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378825" y="3546475"/>
            <a:ext cx="3187065" cy="53657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商品服务器宕机；</a:t>
            </a:r>
            <a:r>
              <a:rPr lang="zh-CN" altLang="en-US">
                <a:solidFill>
                  <a:srgbClr val="FFC000"/>
                </a:solidFill>
              </a:rPr>
              <a:t>连接不上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79460" y="4210050"/>
            <a:ext cx="3186430" cy="53657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API</a:t>
            </a:r>
            <a:r>
              <a:rPr lang="zh-CN" altLang="en-US"/>
              <a:t>速度慢不返回；</a:t>
            </a:r>
            <a:r>
              <a:rPr lang="zh-CN" altLang="en-US">
                <a:solidFill>
                  <a:srgbClr val="FFC000"/>
                </a:solidFill>
              </a:rPr>
              <a:t>读取不到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7" name="菱形 16"/>
          <p:cNvSpPr/>
          <p:nvPr/>
        </p:nvSpPr>
        <p:spPr>
          <a:xfrm>
            <a:off x="2145665" y="3357245"/>
            <a:ext cx="1517650" cy="1221740"/>
          </a:xfrm>
          <a:prstGeom prst="diamond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限时等待</a:t>
            </a:r>
            <a:endParaRPr lang="zh-CN" altLang="en-US"/>
          </a:p>
        </p:txBody>
      </p:sp>
      <p:cxnSp>
        <p:nvCxnSpPr>
          <p:cNvPr id="18" name="直接箭头连接符 17"/>
          <p:cNvCxnSpPr>
            <a:stCxn id="5" idx="2"/>
            <a:endCxn id="17" idx="0"/>
          </p:cNvCxnSpPr>
          <p:nvPr/>
        </p:nvCxnSpPr>
        <p:spPr>
          <a:xfrm>
            <a:off x="2904490" y="2844800"/>
            <a:ext cx="0" cy="51244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07390" y="4746625"/>
            <a:ext cx="1083945" cy="453390"/>
          </a:xfrm>
          <a:prstGeom prst="rect">
            <a:avLst/>
          </a:prstGeom>
          <a:solidFill>
            <a:srgbClr val="92D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>
                <a:solidFill>
                  <a:schemeClr val="tx1"/>
                </a:solidFill>
              </a:rPr>
              <a:t>未超时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" name="肘形连接符 19"/>
          <p:cNvCxnSpPr>
            <a:stCxn id="17" idx="1"/>
            <a:endCxn id="19" idx="0"/>
          </p:cNvCxnSpPr>
          <p:nvPr/>
        </p:nvCxnSpPr>
        <p:spPr>
          <a:xfrm rot="10800000" flipV="1">
            <a:off x="1249680" y="3968115"/>
            <a:ext cx="895985" cy="778510"/>
          </a:xfrm>
          <a:prstGeom prst="bentConnector2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21640" y="5923915"/>
            <a:ext cx="1654810" cy="45339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返回正确结果</a:t>
            </a:r>
            <a:endParaRPr lang="zh-CN" altLang="en-US"/>
          </a:p>
        </p:txBody>
      </p:sp>
      <p:cxnSp>
        <p:nvCxnSpPr>
          <p:cNvPr id="22" name="直接箭头连接符 21"/>
          <p:cNvCxnSpPr>
            <a:stCxn id="19" idx="2"/>
            <a:endCxn id="21" idx="0"/>
          </p:cNvCxnSpPr>
          <p:nvPr/>
        </p:nvCxnSpPr>
        <p:spPr>
          <a:xfrm flipH="1">
            <a:off x="1249045" y="5200015"/>
            <a:ext cx="635" cy="72390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158615" y="4746625"/>
            <a:ext cx="1083945" cy="453390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超时</a:t>
            </a:r>
            <a:endParaRPr lang="zh-CN" altLang="en-US"/>
          </a:p>
        </p:txBody>
      </p:sp>
      <p:cxnSp>
        <p:nvCxnSpPr>
          <p:cNvPr id="24" name="肘形连接符 23"/>
          <p:cNvCxnSpPr>
            <a:stCxn id="17" idx="3"/>
            <a:endCxn id="23" idx="0"/>
          </p:cNvCxnSpPr>
          <p:nvPr/>
        </p:nvCxnSpPr>
        <p:spPr>
          <a:xfrm>
            <a:off x="3663315" y="3968115"/>
            <a:ext cx="1037590" cy="778510"/>
          </a:xfrm>
          <a:prstGeom prst="bentConnector2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6137910" y="4746625"/>
            <a:ext cx="1386840" cy="453390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中断调用</a:t>
            </a:r>
            <a:endParaRPr lang="zh-CN" altLang="en-US"/>
          </a:p>
        </p:txBody>
      </p:sp>
      <p:cxnSp>
        <p:nvCxnSpPr>
          <p:cNvPr id="26" name="直接箭头连接符 25"/>
          <p:cNvCxnSpPr>
            <a:stCxn id="23" idx="3"/>
            <a:endCxn id="25" idx="1"/>
          </p:cNvCxnSpPr>
          <p:nvPr/>
        </p:nvCxnSpPr>
        <p:spPr>
          <a:xfrm>
            <a:off x="5242560" y="4973320"/>
            <a:ext cx="89535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862830" y="5923915"/>
            <a:ext cx="1654810" cy="45339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返回错误信息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294880" y="5923915"/>
            <a:ext cx="1654810" cy="45339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返回兜底数据</a:t>
            </a:r>
            <a:endParaRPr lang="zh-CN" altLang="en-US"/>
          </a:p>
        </p:txBody>
      </p:sp>
      <p:cxnSp>
        <p:nvCxnSpPr>
          <p:cNvPr id="29" name="肘形连接符 28"/>
          <p:cNvCxnSpPr>
            <a:stCxn id="25" idx="2"/>
            <a:endCxn id="27" idx="0"/>
          </p:cNvCxnSpPr>
          <p:nvPr/>
        </p:nvCxnSpPr>
        <p:spPr>
          <a:xfrm rot="5400000">
            <a:off x="5898515" y="4991100"/>
            <a:ext cx="723900" cy="1141095"/>
          </a:xfrm>
          <a:prstGeom prst="bentConnector3">
            <a:avLst>
              <a:gd name="adj1" fmla="val 49956"/>
            </a:avLst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5" idx="2"/>
            <a:endCxn id="28" idx="0"/>
          </p:cNvCxnSpPr>
          <p:nvPr/>
        </p:nvCxnSpPr>
        <p:spPr>
          <a:xfrm rot="5400000" flipV="1">
            <a:off x="7114540" y="4916170"/>
            <a:ext cx="723900" cy="1290955"/>
          </a:xfrm>
          <a:prstGeom prst="bentConnector3">
            <a:avLst>
              <a:gd name="adj1" fmla="val 49956"/>
            </a:avLst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1363960" y="5446395"/>
            <a:ext cx="463550" cy="109283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远程结果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9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7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1" grpId="0" bldLvl="0" animBg="1"/>
      <p:bldP spid="12" grpId="1" animBg="1"/>
      <p:bldP spid="12" grpId="2" animBg="1"/>
      <p:bldP spid="12" grpId="3" animBg="1"/>
      <p:bldP spid="9" grpId="0" bldLvl="0" animBg="1"/>
      <p:bldP spid="10" grpId="0" bldLvl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8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进阶用法</a:t>
            </a:r>
            <a:r>
              <a:rPr lang="en-US" altLang="zh-CN"/>
              <a:t> - </a:t>
            </a:r>
            <a:r>
              <a:rPr lang="zh-CN" altLang="en-US"/>
              <a:t>超时控制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6835" y="1579880"/>
            <a:ext cx="5207000" cy="13766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43965" y="1579880"/>
            <a:ext cx="2557780" cy="61277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connectTimeout</a:t>
            </a:r>
            <a:endParaRPr lang="en-US" altLang="zh-CN"/>
          </a:p>
          <a:p>
            <a:pPr algn="ctr"/>
            <a:r>
              <a:rPr lang="zh-CN" altLang="en-US"/>
              <a:t>连接超时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43965" y="2339340"/>
            <a:ext cx="2557780" cy="61277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readTimeout</a:t>
            </a:r>
            <a:endParaRPr lang="en-US" altLang="zh-CN"/>
          </a:p>
          <a:p>
            <a:pPr algn="ctr"/>
            <a:r>
              <a:rPr lang="zh-CN" altLang="en-US"/>
              <a:t>读取超时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43965" y="3811270"/>
            <a:ext cx="1848485" cy="18764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ctr"/>
            <a:r>
              <a:rPr lang="en-US" altLang="zh-CN" sz="3200"/>
              <a:t>A</a:t>
            </a:r>
            <a:endParaRPr lang="en-US" altLang="zh-CN" sz="3200"/>
          </a:p>
        </p:txBody>
      </p:sp>
      <p:sp>
        <p:nvSpPr>
          <p:cNvPr id="14" name="矩形 13"/>
          <p:cNvSpPr/>
          <p:nvPr/>
        </p:nvSpPr>
        <p:spPr>
          <a:xfrm>
            <a:off x="7844790" y="3811270"/>
            <a:ext cx="1848485" cy="18764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ctr"/>
            <a:r>
              <a:rPr lang="en-US" altLang="zh-CN" sz="3200"/>
              <a:t>B</a:t>
            </a:r>
            <a:endParaRPr lang="en-US" altLang="zh-CN" sz="320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178810" y="4165600"/>
            <a:ext cx="449199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780790" y="3735070"/>
            <a:ext cx="2618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1. </a:t>
            </a:r>
            <a:r>
              <a:rPr lang="zh-CN" altLang="en-US">
                <a:solidFill>
                  <a:srgbClr val="FFC000"/>
                </a:solidFill>
              </a:rPr>
              <a:t>建立连接</a:t>
            </a:r>
            <a:endParaRPr lang="zh-CN" altLang="en-US">
              <a:solidFill>
                <a:srgbClr val="FFC000"/>
              </a:soli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178810" y="4886325"/>
            <a:ext cx="449199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780790" y="4455795"/>
            <a:ext cx="2618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2. </a:t>
            </a:r>
            <a:r>
              <a:rPr lang="zh-CN" altLang="en-US">
                <a:solidFill>
                  <a:srgbClr val="FFC000"/>
                </a:solidFill>
              </a:rPr>
              <a:t>发送请求</a:t>
            </a:r>
            <a:endParaRPr lang="zh-CN" altLang="en-US">
              <a:solidFill>
                <a:srgbClr val="FFC000"/>
              </a:solidFill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3178810" y="5537200"/>
            <a:ext cx="449199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headEnd type="triangle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780790" y="5106670"/>
            <a:ext cx="2618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4. </a:t>
            </a:r>
            <a:r>
              <a:rPr lang="zh-CN" altLang="en-US">
                <a:solidFill>
                  <a:srgbClr val="FFC000"/>
                </a:solidFill>
              </a:rPr>
              <a:t>返回数据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056245" y="4799965"/>
            <a:ext cx="1520825" cy="73723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>
                <a:solidFill>
                  <a:srgbClr val="FFC000"/>
                </a:solidFill>
              </a:rPr>
              <a:t>3. </a:t>
            </a:r>
            <a:r>
              <a:rPr lang="zh-CN" altLang="en-US">
                <a:solidFill>
                  <a:srgbClr val="FFC000"/>
                </a:solidFill>
              </a:rPr>
              <a:t>处理业务</a:t>
            </a:r>
            <a:endParaRPr lang="zh-CN" altLang="en-US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4" grpId="0" animBg="1"/>
      <p:bldP spid="16" grpId="0"/>
      <p:bldP spid="24" grpId="0"/>
      <p:bldP spid="27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进阶用法</a:t>
            </a:r>
            <a:r>
              <a:rPr lang="en-US" altLang="zh-CN"/>
              <a:t> - </a:t>
            </a:r>
            <a:r>
              <a:rPr lang="zh-CN" altLang="en-US"/>
              <a:t>重试机制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1083945"/>
          </a:xfrm>
        </p:spPr>
        <p:txBody>
          <a:bodyPr>
            <a:normAutofit fontScale="90000" lnSpcReduction="20000"/>
          </a:bodyPr>
          <a:p>
            <a:pPr>
              <a:lnSpc>
                <a:spcPct val="150000"/>
              </a:lnSpc>
            </a:pPr>
            <a:r>
              <a:rPr lang="zh-CN" altLang="en-US"/>
              <a:t>远程调用超时失败后，还可以进行多次尝试，如果某次成功返回</a:t>
            </a:r>
            <a:r>
              <a:rPr lang="en-US" altLang="zh-CN"/>
              <a:t>ok</a:t>
            </a:r>
            <a:r>
              <a:rPr lang="zh-CN" altLang="en-US"/>
              <a:t>，如果多次依然失败则结束调用，返回错误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935" y="3091180"/>
            <a:ext cx="9620250" cy="10274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026535" y="4615815"/>
            <a:ext cx="1810385" cy="41148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100ms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5836920" y="4615815"/>
            <a:ext cx="756285" cy="41148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 x 1.5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593205" y="4615815"/>
            <a:ext cx="756285" cy="41148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 x 1.5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7349490" y="4615815"/>
            <a:ext cx="756285" cy="41148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 x 1.5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2513965" y="4615815"/>
            <a:ext cx="756285" cy="411480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请求</a:t>
            </a:r>
            <a:endParaRPr lang="zh-CN" altLang="en-US"/>
          </a:p>
        </p:txBody>
      </p:sp>
      <p:cxnSp>
        <p:nvCxnSpPr>
          <p:cNvPr id="11" name="直接箭头连接符 10"/>
          <p:cNvCxnSpPr>
            <a:endCxn id="5" idx="2"/>
          </p:cNvCxnSpPr>
          <p:nvPr/>
        </p:nvCxnSpPr>
        <p:spPr>
          <a:xfrm flipV="1">
            <a:off x="4926330" y="5027295"/>
            <a:ext cx="5715" cy="82423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6212205" y="5027295"/>
            <a:ext cx="5715" cy="82423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7042785" y="5027295"/>
            <a:ext cx="5715" cy="82423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7724775" y="5027295"/>
            <a:ext cx="5715" cy="82423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2947670" y="5027295"/>
            <a:ext cx="5715" cy="82423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5996940"/>
            <a:ext cx="505968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5" grpId="0" animBg="1"/>
      <p:bldP spid="6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圆角矩形 41"/>
          <p:cNvSpPr/>
          <p:nvPr/>
        </p:nvSpPr>
        <p:spPr>
          <a:xfrm>
            <a:off x="9018905" y="1483995"/>
            <a:ext cx="2442210" cy="5008880"/>
          </a:xfrm>
          <a:prstGeom prst="roundRect">
            <a:avLst>
              <a:gd name="adj" fmla="val 10010"/>
            </a:avLst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ctr"/>
            <a:r>
              <a:rPr lang="zh-CN" altLang="en-US"/>
              <a:t>远程服务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进阶用法</a:t>
            </a:r>
            <a:r>
              <a:rPr lang="en-US" altLang="zh-CN"/>
              <a:t> - </a:t>
            </a:r>
            <a:r>
              <a:rPr lang="zh-CN" altLang="en-US"/>
              <a:t>拦截器</a:t>
            </a:r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733550" y="2025015"/>
            <a:ext cx="1972945" cy="7181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订单服务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277985" y="3397885"/>
            <a:ext cx="1972945" cy="7181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商品服务</a:t>
            </a: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915920" y="2546985"/>
            <a:ext cx="1350645" cy="39243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OpenFeign</a:t>
            </a:r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4008120" y="3408680"/>
            <a:ext cx="1819910" cy="708025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请求拦截器</a:t>
            </a:r>
            <a:endParaRPr lang="zh-CN" altLang="en-US"/>
          </a:p>
          <a:p>
            <a:pPr algn="ctr"/>
            <a:r>
              <a:rPr lang="en-US" altLang="zh-CN" sz="1600" b="1" u="sng">
                <a:solidFill>
                  <a:schemeClr val="accent1"/>
                </a:solidFill>
              </a:rPr>
              <a:t>RequestInterceptor</a:t>
            </a:r>
            <a:endParaRPr lang="en-US" altLang="zh-CN" sz="1600" b="1" u="sng">
              <a:solidFill>
                <a:schemeClr val="accent1"/>
              </a:solidFill>
            </a:endParaRPr>
          </a:p>
        </p:txBody>
      </p:sp>
      <p:cxnSp>
        <p:nvCxnSpPr>
          <p:cNvPr id="33" name="肘形连接符 32"/>
          <p:cNvCxnSpPr>
            <a:stCxn id="31" idx="2"/>
            <a:endCxn id="32" idx="1"/>
          </p:cNvCxnSpPr>
          <p:nvPr/>
        </p:nvCxnSpPr>
        <p:spPr>
          <a:xfrm rot="5400000" flipV="1">
            <a:off x="3388043" y="3142933"/>
            <a:ext cx="823595" cy="416560"/>
          </a:xfrm>
          <a:prstGeom prst="bentConnector2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32" idx="3"/>
            <a:endCxn id="30" idx="1"/>
          </p:cNvCxnSpPr>
          <p:nvPr/>
        </p:nvCxnSpPr>
        <p:spPr>
          <a:xfrm flipV="1">
            <a:off x="5828030" y="3757295"/>
            <a:ext cx="3449955" cy="571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278880" y="3293745"/>
            <a:ext cx="1368425" cy="325755"/>
          </a:xfrm>
          <a:prstGeom prst="rect">
            <a:avLst/>
          </a:prstGeom>
          <a:solidFill>
            <a:srgbClr val="00B0F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400"/>
              <a:t>请求定制修改</a:t>
            </a:r>
            <a:endParaRPr lang="zh-CN" altLang="en-US" sz="1400"/>
          </a:p>
        </p:txBody>
      </p:sp>
      <p:sp>
        <p:nvSpPr>
          <p:cNvPr id="36" name="矩形 35"/>
          <p:cNvSpPr/>
          <p:nvPr/>
        </p:nvSpPr>
        <p:spPr>
          <a:xfrm>
            <a:off x="6163310" y="3901440"/>
            <a:ext cx="1609090" cy="344805"/>
          </a:xfrm>
          <a:prstGeom prst="rect">
            <a:avLst/>
          </a:prstGeom>
          <a:solidFill>
            <a:srgbClr val="00B0F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X-Token: XXXX</a:t>
            </a:r>
            <a:endParaRPr lang="en-US" altLang="zh-CN"/>
          </a:p>
        </p:txBody>
      </p:sp>
      <p:sp>
        <p:nvSpPr>
          <p:cNvPr id="37" name="矩形 36"/>
          <p:cNvSpPr/>
          <p:nvPr/>
        </p:nvSpPr>
        <p:spPr>
          <a:xfrm>
            <a:off x="6595745" y="5201920"/>
            <a:ext cx="2106295" cy="708025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响应拦截器</a:t>
            </a:r>
            <a:endParaRPr lang="zh-CN" altLang="en-US"/>
          </a:p>
          <a:p>
            <a:pPr algn="ctr"/>
            <a:r>
              <a:rPr lang="en-US" altLang="zh-CN" sz="1600" b="1" u="sng">
                <a:solidFill>
                  <a:schemeClr val="accent1"/>
                </a:solidFill>
              </a:rPr>
              <a:t>ResponseInterceptor</a:t>
            </a:r>
            <a:endParaRPr lang="en-US" altLang="zh-CN" sz="1600" b="1" u="sng">
              <a:solidFill>
                <a:schemeClr val="accent1"/>
              </a:solidFill>
            </a:endParaRPr>
          </a:p>
        </p:txBody>
      </p:sp>
      <p:cxnSp>
        <p:nvCxnSpPr>
          <p:cNvPr id="38" name="肘形连接符 37"/>
          <p:cNvCxnSpPr>
            <a:stCxn id="30" idx="2"/>
            <a:endCxn id="37" idx="3"/>
          </p:cNvCxnSpPr>
          <p:nvPr/>
        </p:nvCxnSpPr>
        <p:spPr>
          <a:xfrm rot="5400000">
            <a:off x="8763318" y="4054793"/>
            <a:ext cx="1440180" cy="1562735"/>
          </a:xfrm>
          <a:prstGeom prst="bentConnector2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37" idx="1"/>
            <a:endCxn id="29" idx="2"/>
          </p:cNvCxnSpPr>
          <p:nvPr/>
        </p:nvCxnSpPr>
        <p:spPr>
          <a:xfrm rot="10800000">
            <a:off x="2720340" y="2743200"/>
            <a:ext cx="3875405" cy="2813050"/>
          </a:xfrm>
          <a:prstGeom prst="bentConnector2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4910455" y="5058410"/>
            <a:ext cx="1368425" cy="325755"/>
          </a:xfrm>
          <a:prstGeom prst="rect">
            <a:avLst/>
          </a:prstGeom>
          <a:solidFill>
            <a:srgbClr val="00B0F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400"/>
              <a:t>响应预处理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矩形 25"/>
          <p:cNvSpPr/>
          <p:nvPr/>
        </p:nvSpPr>
        <p:spPr>
          <a:xfrm>
            <a:off x="1471295" y="2386965"/>
            <a:ext cx="2202180" cy="118300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ctr"/>
            <a:r>
              <a:rPr lang="zh-CN" altLang="en-US"/>
              <a:t>订单服务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进阶用法</a:t>
            </a:r>
            <a:r>
              <a:rPr lang="en-US" altLang="zh-CN"/>
              <a:t> - Fallback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Fallback</a:t>
            </a:r>
            <a:r>
              <a:rPr lang="zh-CN" altLang="en-US">
                <a:sym typeface="+mn-ea"/>
              </a:rPr>
              <a:t>：兜底返回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/>
              <a:t>注意：此功能需要整合</a:t>
            </a:r>
            <a:r>
              <a:rPr lang="en-US" altLang="zh-CN"/>
              <a:t> </a:t>
            </a:r>
            <a:r>
              <a:rPr lang="en-US" altLang="zh-CN">
                <a:solidFill>
                  <a:srgbClr val="FFC000"/>
                </a:solidFill>
              </a:rPr>
              <a:t>Sentinel </a:t>
            </a:r>
            <a:r>
              <a:rPr lang="zh-CN" altLang="en-US"/>
              <a:t>才能实现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910715" y="2788285"/>
            <a:ext cx="1695450" cy="4508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OpenFeign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8032750" y="2740660"/>
            <a:ext cx="1695450" cy="5556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API</a:t>
            </a:r>
            <a:endParaRPr lang="en-US" altLang="zh-CN"/>
          </a:p>
        </p:txBody>
      </p:sp>
      <p:cxnSp>
        <p:nvCxnSpPr>
          <p:cNvPr id="9" name="直接箭头连接符 8"/>
          <p:cNvCxnSpPr>
            <a:stCxn id="7" idx="3"/>
            <a:endCxn id="8" idx="1"/>
          </p:cNvCxnSpPr>
          <p:nvPr/>
        </p:nvCxnSpPr>
        <p:spPr>
          <a:xfrm>
            <a:off x="3606165" y="3013710"/>
            <a:ext cx="4426585" cy="508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6691630" y="4462780"/>
            <a:ext cx="1341120" cy="392430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超时</a:t>
            </a:r>
            <a:r>
              <a:rPr lang="en-US" altLang="zh-CN"/>
              <a:t>/</a:t>
            </a:r>
            <a:r>
              <a:rPr lang="zh-CN" altLang="en-US"/>
              <a:t>错误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54880" y="3622675"/>
            <a:ext cx="1341120" cy="39243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远程调用</a:t>
            </a:r>
            <a:endParaRPr lang="zh-CN" altLang="en-US"/>
          </a:p>
        </p:txBody>
      </p:sp>
      <p:cxnSp>
        <p:nvCxnSpPr>
          <p:cNvPr id="6" name="直接箭头连接符 5"/>
          <p:cNvCxnSpPr>
            <a:stCxn id="5" idx="2"/>
            <a:endCxn id="4" idx="0"/>
          </p:cNvCxnSpPr>
          <p:nvPr/>
        </p:nvCxnSpPr>
        <p:spPr>
          <a:xfrm>
            <a:off x="5425440" y="4015105"/>
            <a:ext cx="1936750" cy="44767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187315" y="5506085"/>
            <a:ext cx="1656715" cy="392430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返回错误信息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900035" y="5506085"/>
            <a:ext cx="1656715" cy="392430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返回兜底数据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757170" y="4462780"/>
            <a:ext cx="1341120" cy="39243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/>
              <a:t>正常</a:t>
            </a:r>
            <a:endParaRPr lang="zh-CN"/>
          </a:p>
        </p:txBody>
      </p:sp>
      <p:sp>
        <p:nvSpPr>
          <p:cNvPr id="15" name="矩形 14"/>
          <p:cNvSpPr/>
          <p:nvPr/>
        </p:nvSpPr>
        <p:spPr>
          <a:xfrm>
            <a:off x="2599690" y="5506085"/>
            <a:ext cx="1656715" cy="392430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返回远程结果</a:t>
            </a:r>
            <a:endParaRPr lang="zh-CN" altLang="en-US"/>
          </a:p>
        </p:txBody>
      </p:sp>
      <p:cxnSp>
        <p:nvCxnSpPr>
          <p:cNvPr id="16" name="直接箭头连接符 15"/>
          <p:cNvCxnSpPr>
            <a:stCxn id="5" idx="2"/>
            <a:endCxn id="14" idx="0"/>
          </p:cNvCxnSpPr>
          <p:nvPr/>
        </p:nvCxnSpPr>
        <p:spPr>
          <a:xfrm flipH="1">
            <a:off x="3427730" y="4015105"/>
            <a:ext cx="1997710" cy="44767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4" idx="2"/>
            <a:endCxn id="15" idx="0"/>
          </p:cNvCxnSpPr>
          <p:nvPr/>
        </p:nvCxnSpPr>
        <p:spPr>
          <a:xfrm>
            <a:off x="3427730" y="4855210"/>
            <a:ext cx="635" cy="65087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4" idx="2"/>
            <a:endCxn id="11" idx="0"/>
          </p:cNvCxnSpPr>
          <p:nvPr/>
        </p:nvCxnSpPr>
        <p:spPr>
          <a:xfrm flipH="1">
            <a:off x="6015990" y="4855210"/>
            <a:ext cx="1346200" cy="65087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endCxn id="13" idx="0"/>
          </p:cNvCxnSpPr>
          <p:nvPr/>
        </p:nvCxnSpPr>
        <p:spPr>
          <a:xfrm>
            <a:off x="7378700" y="4836160"/>
            <a:ext cx="1350010" cy="66992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8287385" y="5898515"/>
            <a:ext cx="795655" cy="28765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200"/>
              <a:t>默认数据</a:t>
            </a:r>
            <a:endParaRPr lang="zh-CN" altLang="en-US" sz="1200"/>
          </a:p>
        </p:txBody>
      </p:sp>
      <p:sp>
        <p:nvSpPr>
          <p:cNvPr id="21" name="矩形 20"/>
          <p:cNvSpPr/>
          <p:nvPr/>
        </p:nvSpPr>
        <p:spPr>
          <a:xfrm>
            <a:off x="9083040" y="5898515"/>
            <a:ext cx="795655" cy="28765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200"/>
              <a:t>缓存数据</a:t>
            </a:r>
            <a:endParaRPr lang="zh-CN" altLang="en-US" sz="1200"/>
          </a:p>
        </p:txBody>
      </p:sp>
      <p:sp>
        <p:nvSpPr>
          <p:cNvPr id="22" name="矩形 21"/>
          <p:cNvSpPr/>
          <p:nvPr/>
        </p:nvSpPr>
        <p:spPr>
          <a:xfrm>
            <a:off x="8287385" y="6205220"/>
            <a:ext cx="652780" cy="28765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200"/>
              <a:t>假数据</a:t>
            </a:r>
            <a:endParaRPr lang="zh-CN" altLang="en-US" sz="1200"/>
          </a:p>
        </p:txBody>
      </p:sp>
      <p:sp>
        <p:nvSpPr>
          <p:cNvPr id="24" name="矩形 23"/>
          <p:cNvSpPr/>
          <p:nvPr/>
        </p:nvSpPr>
        <p:spPr>
          <a:xfrm>
            <a:off x="8940165" y="6205220"/>
            <a:ext cx="652780" cy="28765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 sz="1200"/>
              <a:t>...</a:t>
            </a:r>
            <a:endParaRPr lang="en-US" altLang="zh-CN" sz="1200"/>
          </a:p>
        </p:txBody>
      </p:sp>
      <p:sp>
        <p:nvSpPr>
          <p:cNvPr id="25" name="矩形 24"/>
          <p:cNvSpPr/>
          <p:nvPr/>
        </p:nvSpPr>
        <p:spPr>
          <a:xfrm>
            <a:off x="2496185" y="3239135"/>
            <a:ext cx="1109980" cy="297815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600"/>
              <a:t>兜底回调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1" grpId="0" animBg="1"/>
      <p:bldP spid="22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OpenFeign - 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熟练编写</a:t>
            </a:r>
            <a:r>
              <a:rPr lang="en-US" altLang="zh-CN"/>
              <a:t> OpenFeign </a:t>
            </a:r>
            <a:r>
              <a:rPr lang="zh-CN" altLang="en-US"/>
              <a:t>远程调用客户端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熟练配置</a:t>
            </a:r>
            <a:r>
              <a:rPr lang="en-US" altLang="zh-CN"/>
              <a:t> OpenFeign </a:t>
            </a:r>
            <a:r>
              <a:rPr lang="zh-CN" altLang="en-US"/>
              <a:t>客户端属性</a:t>
            </a:r>
            <a:endParaRPr lang="zh-CN" altLang="en-US"/>
          </a:p>
          <a:p>
            <a:pPr lvl="1"/>
            <a:r>
              <a:rPr lang="zh-CN" altLang="en-US"/>
              <a:t>连接超时</a:t>
            </a:r>
            <a:endParaRPr lang="zh-CN" altLang="en-US"/>
          </a:p>
          <a:p>
            <a:pPr lvl="1"/>
            <a:r>
              <a:rPr lang="zh-CN" altLang="en-US"/>
              <a:t>读取超时</a:t>
            </a:r>
            <a:endParaRPr lang="zh-CN" altLang="en-US"/>
          </a:p>
          <a:p>
            <a:pPr lvl="1"/>
            <a:r>
              <a:rPr lang="en-US" altLang="zh-CN"/>
              <a:t>......</a:t>
            </a:r>
            <a:endParaRPr lang="zh-CN" altLang="en-US"/>
          </a:p>
          <a:p>
            <a:pPr lvl="0"/>
            <a:r>
              <a:rPr lang="en-US" altLang="zh-CN"/>
              <a:t>3. </a:t>
            </a:r>
            <a:r>
              <a:rPr lang="zh-CN" altLang="en-US"/>
              <a:t>掌握</a:t>
            </a:r>
            <a:r>
              <a:rPr lang="en-US" altLang="zh-CN"/>
              <a:t> </a:t>
            </a:r>
            <a:r>
              <a:rPr lang="zh-CN" altLang="en-US"/>
              <a:t>拦截器</a:t>
            </a:r>
            <a:r>
              <a:rPr lang="en-US" altLang="zh-CN"/>
              <a:t> </a:t>
            </a:r>
            <a:r>
              <a:rPr lang="zh-CN" altLang="en-US"/>
              <a:t>用法</a:t>
            </a:r>
            <a:endParaRPr lang="zh-CN" altLang="en-US"/>
          </a:p>
          <a:p>
            <a:pPr lvl="0"/>
            <a:r>
              <a:rPr lang="en-US" altLang="zh-CN"/>
              <a:t>4. </a:t>
            </a:r>
            <a:r>
              <a:rPr lang="zh-CN" altLang="en-US"/>
              <a:t>掌握</a:t>
            </a:r>
            <a:r>
              <a:rPr lang="en-US" altLang="zh-CN"/>
              <a:t> Fallback </a:t>
            </a:r>
            <a:r>
              <a:rPr lang="zh-CN" altLang="en-US"/>
              <a:t>兜底返回机制</a:t>
            </a:r>
            <a:r>
              <a:rPr lang="en-US" altLang="zh-CN"/>
              <a:t> </a:t>
            </a:r>
            <a:r>
              <a:rPr lang="zh-CN" altLang="en-US"/>
              <a:t>及</a:t>
            </a:r>
            <a:r>
              <a:rPr lang="en-US" altLang="zh-CN"/>
              <a:t> </a:t>
            </a:r>
            <a:r>
              <a:rPr lang="zh-CN" altLang="en-US"/>
              <a:t>用法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4. Sentinel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服务保护（</a:t>
            </a:r>
            <a:r>
              <a:rPr lang="zh-CN" altLang="en-US">
                <a:sym typeface="+mn-ea"/>
              </a:rPr>
              <a:t>限流、</a:t>
            </a:r>
            <a:r>
              <a:rPr lang="zh-CN" altLang="en-US"/>
              <a:t>熔断降级）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功能介绍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20000"/>
              </a:lnSpc>
            </a:pPr>
            <a:r>
              <a:rPr lang="zh-CN" altLang="en-US" sz="2400"/>
              <a:t>随着微服务的流行，服务和</a:t>
            </a:r>
            <a:r>
              <a:rPr lang="zh-CN" altLang="en-US" sz="2400">
                <a:solidFill>
                  <a:srgbClr val="FFC000"/>
                </a:solidFill>
              </a:rPr>
              <a:t>服务之间的稳定性</a:t>
            </a:r>
            <a:r>
              <a:rPr lang="zh-CN" altLang="en-US" sz="2400"/>
              <a:t>变得越来越重要。</a:t>
            </a:r>
            <a:r>
              <a:rPr lang="en-US" altLang="zh-CN" sz="2400">
                <a:solidFill>
                  <a:srgbClr val="FFC000"/>
                </a:solidFill>
              </a:rPr>
              <a:t>Spring Cloud Alibaba Sentinel</a:t>
            </a:r>
            <a:r>
              <a:rPr lang="en-US" altLang="zh-CN" sz="2400"/>
              <a:t> </a:t>
            </a:r>
            <a:r>
              <a:rPr lang="zh-CN" altLang="en-US" sz="2400"/>
              <a:t>以流量为切入点，从</a:t>
            </a:r>
            <a:r>
              <a:rPr lang="zh-CN" altLang="en-US" sz="2400">
                <a:solidFill>
                  <a:srgbClr val="FFC000"/>
                </a:solidFill>
              </a:rPr>
              <a:t>流量控制</a:t>
            </a:r>
            <a:r>
              <a:rPr lang="zh-CN" altLang="en-US" sz="2400"/>
              <a:t>、</a:t>
            </a:r>
            <a:r>
              <a:rPr lang="zh-CN" altLang="en-US" sz="2400">
                <a:solidFill>
                  <a:srgbClr val="FFC000"/>
                </a:solidFill>
              </a:rPr>
              <a:t>流量路由</a:t>
            </a:r>
            <a:r>
              <a:rPr lang="zh-CN" altLang="en-US" sz="2400"/>
              <a:t>、</a:t>
            </a:r>
            <a:r>
              <a:rPr lang="zh-CN" altLang="en-US" sz="2400">
                <a:solidFill>
                  <a:srgbClr val="FFC000"/>
                </a:solidFill>
              </a:rPr>
              <a:t>熔断降级</a:t>
            </a:r>
            <a:r>
              <a:rPr lang="zh-CN" altLang="en-US" sz="2400"/>
              <a:t>、系统自适应</a:t>
            </a:r>
            <a:r>
              <a:rPr lang="zh-CN" altLang="en-US" sz="2400">
                <a:solidFill>
                  <a:srgbClr val="FFC000"/>
                </a:solidFill>
              </a:rPr>
              <a:t>过载保护</a:t>
            </a:r>
            <a:r>
              <a:rPr lang="zh-CN" altLang="en-US" sz="2400"/>
              <a:t>、</a:t>
            </a:r>
            <a:r>
              <a:rPr lang="zh-CN" altLang="en-US" sz="2400">
                <a:solidFill>
                  <a:srgbClr val="FFC000"/>
                </a:solidFill>
              </a:rPr>
              <a:t>热点流量防护</a:t>
            </a:r>
            <a:r>
              <a:rPr lang="zh-CN" altLang="en-US" sz="2400"/>
              <a:t>等多个维度保护服务的稳定性。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535" y="2975610"/>
            <a:ext cx="7494270" cy="35032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架构</a:t>
            </a:r>
            <a:r>
              <a:rPr lang="zh-CN" altLang="en-US"/>
              <a:t>原理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180" y="1421130"/>
            <a:ext cx="877062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资源</a:t>
            </a:r>
            <a:r>
              <a:rPr lang="en-US" altLang="zh-CN"/>
              <a:t>&amp;</a:t>
            </a:r>
            <a:r>
              <a:rPr lang="zh-CN" altLang="en-US"/>
              <a:t>规则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935" y="1422400"/>
            <a:ext cx="10553700" cy="4351655"/>
          </a:xfrm>
        </p:spPr>
        <p:txBody>
          <a:bodyPr>
            <a:normAutofit fontScale="80000"/>
          </a:bodyPr>
          <a:p>
            <a:pPr>
              <a:lnSpc>
                <a:spcPct val="110000"/>
              </a:lnSpc>
            </a:pPr>
            <a:r>
              <a:rPr lang="zh-CN" altLang="en-US"/>
              <a:t>定义</a:t>
            </a:r>
            <a:r>
              <a:rPr lang="zh-CN" altLang="en-US">
                <a:solidFill>
                  <a:srgbClr val="00B050"/>
                </a:solidFill>
              </a:rPr>
              <a:t>资源</a:t>
            </a:r>
            <a:r>
              <a:rPr lang="zh-CN" altLang="en-US"/>
              <a:t>：</a:t>
            </a:r>
            <a:endParaRPr lang="zh-CN" altLang="en-US"/>
          </a:p>
          <a:p>
            <a:pPr lvl="1">
              <a:lnSpc>
                <a:spcPct val="110000"/>
              </a:lnSpc>
            </a:pPr>
            <a:r>
              <a:rPr lang="zh-CN" altLang="en-US"/>
              <a:t>主流框架</a:t>
            </a:r>
            <a:r>
              <a:rPr lang="zh-CN" altLang="en-US">
                <a:solidFill>
                  <a:srgbClr val="FFC000"/>
                </a:solidFill>
              </a:rPr>
              <a:t>自动适配</a:t>
            </a:r>
            <a:r>
              <a:rPr lang="zh-CN" altLang="en-US"/>
              <a:t>（</a:t>
            </a:r>
            <a:r>
              <a:rPr lang="en-US" altLang="zh-CN"/>
              <a:t>Web Servlet</a:t>
            </a:r>
            <a:r>
              <a:rPr lang="zh-CN" altLang="en-US"/>
              <a:t>、</a:t>
            </a:r>
            <a:r>
              <a:rPr lang="en-US" altLang="zh-CN"/>
              <a:t>Dubbo</a:t>
            </a:r>
            <a:r>
              <a:rPr lang="zh-CN" altLang="en-US"/>
              <a:t>、</a:t>
            </a:r>
            <a:r>
              <a:rPr lang="en-US" altLang="zh-CN"/>
              <a:t>Spring Cloud</a:t>
            </a:r>
            <a:r>
              <a:rPr lang="zh-CN" altLang="en-US"/>
              <a:t>、</a:t>
            </a:r>
            <a:r>
              <a:rPr lang="en-US" altLang="zh-CN"/>
              <a:t>gRPC</a:t>
            </a:r>
            <a:r>
              <a:rPr lang="zh-CN" altLang="en-US"/>
              <a:t>、</a:t>
            </a:r>
            <a:r>
              <a:rPr lang="en-US" altLang="zh-CN"/>
              <a:t>Spring WebFlux</a:t>
            </a:r>
            <a:r>
              <a:rPr lang="zh-CN" altLang="en-US"/>
              <a:t>、</a:t>
            </a:r>
            <a:r>
              <a:rPr lang="en-US" altLang="zh-CN"/>
              <a:t>Reactor</a:t>
            </a:r>
            <a:r>
              <a:rPr lang="zh-CN" altLang="en-US"/>
              <a:t>）；所有</a:t>
            </a:r>
            <a:r>
              <a:rPr lang="en-US" altLang="zh-CN"/>
              <a:t>Web</a:t>
            </a:r>
            <a:r>
              <a:rPr lang="zh-CN" altLang="en-US"/>
              <a:t>接口均为资源</a:t>
            </a:r>
            <a:endParaRPr lang="zh-CN" altLang="en-US"/>
          </a:p>
          <a:p>
            <a:pPr lvl="1">
              <a:lnSpc>
                <a:spcPct val="110000"/>
              </a:lnSpc>
            </a:pPr>
            <a:r>
              <a:rPr lang="en-US" altLang="zh-CN">
                <a:solidFill>
                  <a:srgbClr val="FFC000"/>
                </a:solidFill>
              </a:rPr>
              <a:t>编程式</a:t>
            </a:r>
            <a:r>
              <a:rPr lang="zh-CN" altLang="en-US"/>
              <a:t>：</a:t>
            </a:r>
            <a:r>
              <a:rPr lang="en-US" altLang="zh-CN"/>
              <a:t>SphU API</a:t>
            </a:r>
            <a:endParaRPr lang="en-US" altLang="zh-CN"/>
          </a:p>
          <a:p>
            <a:pPr lvl="1">
              <a:lnSpc>
                <a:spcPct val="110000"/>
              </a:lnSpc>
            </a:pPr>
            <a:r>
              <a:rPr lang="zh-CN" altLang="en-US">
                <a:solidFill>
                  <a:srgbClr val="FFC000"/>
                </a:solidFill>
              </a:rPr>
              <a:t>声明式</a:t>
            </a:r>
            <a:r>
              <a:rPr lang="zh-CN" altLang="en-US"/>
              <a:t>：</a:t>
            </a:r>
            <a:r>
              <a:rPr lang="en-US" altLang="zh-CN"/>
              <a:t>@SentinelResource</a:t>
            </a:r>
            <a:endParaRPr lang="en-US" altLang="zh-CN"/>
          </a:p>
          <a:p>
            <a:pPr lvl="0">
              <a:lnSpc>
                <a:spcPct val="110000"/>
              </a:lnSpc>
            </a:pPr>
            <a:r>
              <a:rPr lang="zh-CN" altLang="en-US"/>
              <a:t>定义</a:t>
            </a:r>
            <a:r>
              <a:rPr lang="zh-CN" altLang="en-US">
                <a:solidFill>
                  <a:srgbClr val="00B050"/>
                </a:solidFill>
              </a:rPr>
              <a:t>规则</a:t>
            </a:r>
            <a:r>
              <a:rPr lang="zh-CN" altLang="en-US"/>
              <a:t>：</a:t>
            </a:r>
            <a:endParaRPr lang="zh-CN" altLang="en-US"/>
          </a:p>
          <a:p>
            <a:pPr lvl="1">
              <a:lnSpc>
                <a:spcPct val="110000"/>
              </a:lnSpc>
            </a:pPr>
            <a:r>
              <a:rPr lang="zh-CN" altLang="en-US"/>
              <a:t>流量控制（</a:t>
            </a:r>
            <a:r>
              <a:rPr lang="en-US" altLang="zh-CN"/>
              <a:t>FlowRule</a:t>
            </a:r>
            <a:r>
              <a:rPr lang="zh-CN" altLang="en-US"/>
              <a:t>）</a:t>
            </a:r>
            <a:endParaRPr lang="zh-CN" altLang="en-US"/>
          </a:p>
          <a:p>
            <a:pPr lvl="1">
              <a:lnSpc>
                <a:spcPct val="110000"/>
              </a:lnSpc>
            </a:pPr>
            <a:r>
              <a:rPr lang="zh-CN" altLang="en-US"/>
              <a:t>熔断降级（</a:t>
            </a:r>
            <a:r>
              <a:rPr lang="en-US" altLang="zh-CN"/>
              <a:t>DegradeRule</a:t>
            </a:r>
            <a:r>
              <a:rPr lang="zh-CN" altLang="en-US"/>
              <a:t>）</a:t>
            </a:r>
            <a:endParaRPr lang="zh-CN" altLang="en-US"/>
          </a:p>
          <a:p>
            <a:pPr lvl="1">
              <a:lnSpc>
                <a:spcPct val="110000"/>
              </a:lnSpc>
            </a:pPr>
            <a:r>
              <a:rPr lang="zh-CN" altLang="en-US"/>
              <a:t>系统保护（</a:t>
            </a:r>
            <a:r>
              <a:rPr lang="en-US" altLang="zh-CN"/>
              <a:t>SystemRule</a:t>
            </a:r>
            <a:r>
              <a:rPr lang="zh-CN" altLang="en-US"/>
              <a:t>）</a:t>
            </a:r>
            <a:endParaRPr lang="zh-CN" altLang="en-US"/>
          </a:p>
          <a:p>
            <a:pPr lvl="1">
              <a:lnSpc>
                <a:spcPct val="110000"/>
              </a:lnSpc>
            </a:pPr>
            <a:r>
              <a:rPr lang="zh-CN" altLang="en-US"/>
              <a:t>来源访问控制（</a:t>
            </a:r>
            <a:r>
              <a:rPr lang="en-US" altLang="zh-CN"/>
              <a:t>AuthorityRule</a:t>
            </a:r>
            <a:r>
              <a:rPr lang="zh-CN" altLang="en-US"/>
              <a:t>）</a:t>
            </a:r>
            <a:endParaRPr lang="zh-CN" altLang="en-US"/>
          </a:p>
          <a:p>
            <a:pPr lvl="1">
              <a:lnSpc>
                <a:spcPct val="110000"/>
              </a:lnSpc>
            </a:pPr>
            <a:r>
              <a:rPr lang="zh-CN" altLang="en-US"/>
              <a:t>热点参数（</a:t>
            </a:r>
            <a:r>
              <a:rPr lang="en-US" altLang="zh-CN"/>
              <a:t>ParamFlowRule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/>
              <a:t>工作原理</a:t>
            </a:r>
            <a:endParaRPr lang="zh-CN"/>
          </a:p>
        </p:txBody>
      </p:sp>
      <p:sp>
        <p:nvSpPr>
          <p:cNvPr id="4" name="矩形 3"/>
          <p:cNvSpPr/>
          <p:nvPr/>
        </p:nvSpPr>
        <p:spPr>
          <a:xfrm>
            <a:off x="4694555" y="1632585"/>
            <a:ext cx="1332230" cy="49911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规则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694555" y="650875"/>
            <a:ext cx="1332230" cy="4508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资源</a:t>
            </a:r>
            <a:endParaRPr lang="zh-CN" altLang="en-US"/>
          </a:p>
        </p:txBody>
      </p:sp>
      <p:cxnSp>
        <p:nvCxnSpPr>
          <p:cNvPr id="6" name="直接箭头连接符 5"/>
          <p:cNvCxnSpPr>
            <a:stCxn id="5" idx="2"/>
            <a:endCxn id="4" idx="0"/>
          </p:cNvCxnSpPr>
          <p:nvPr/>
        </p:nvCxnSpPr>
        <p:spPr>
          <a:xfrm>
            <a:off x="5360670" y="1101725"/>
            <a:ext cx="0" cy="53086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275965" y="535940"/>
            <a:ext cx="689610" cy="680085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用户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7" idx="6"/>
            <a:endCxn id="5" idx="1"/>
          </p:cNvCxnSpPr>
          <p:nvPr/>
        </p:nvCxnSpPr>
        <p:spPr>
          <a:xfrm>
            <a:off x="3965575" y="876300"/>
            <a:ext cx="72898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910580" y="1216025"/>
            <a:ext cx="1570355" cy="32639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Sentinel </a:t>
            </a:r>
            <a:r>
              <a:rPr lang="zh-CN" altLang="en-US"/>
              <a:t>检查</a:t>
            </a:r>
            <a:endParaRPr lang="zh-CN" altLang="en-US"/>
          </a:p>
        </p:txBody>
      </p:sp>
      <p:sp>
        <p:nvSpPr>
          <p:cNvPr id="10" name="菱形 9"/>
          <p:cNvSpPr/>
          <p:nvPr/>
        </p:nvSpPr>
        <p:spPr>
          <a:xfrm>
            <a:off x="4794885" y="2604770"/>
            <a:ext cx="1131570" cy="1052830"/>
          </a:xfrm>
          <a:prstGeom prst="diamond">
            <a:avLst/>
          </a:prstGeom>
          <a:solidFill>
            <a:srgbClr val="7030A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违反</a:t>
            </a:r>
            <a:endParaRPr lang="zh-CN" altLang="en-US"/>
          </a:p>
        </p:txBody>
      </p:sp>
      <p:cxnSp>
        <p:nvCxnSpPr>
          <p:cNvPr id="11" name="直接箭头连接符 10"/>
          <p:cNvCxnSpPr>
            <a:stCxn id="4" idx="2"/>
            <a:endCxn id="10" idx="0"/>
          </p:cNvCxnSpPr>
          <p:nvPr/>
        </p:nvCxnSpPr>
        <p:spPr>
          <a:xfrm>
            <a:off x="5360670" y="2131695"/>
            <a:ext cx="0" cy="47307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275965" y="3725545"/>
            <a:ext cx="890905" cy="35433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放行</a:t>
            </a:r>
            <a:endParaRPr lang="zh-CN" altLang="en-US"/>
          </a:p>
        </p:txBody>
      </p:sp>
      <p:cxnSp>
        <p:nvCxnSpPr>
          <p:cNvPr id="13" name="肘形连接符 12"/>
          <p:cNvCxnSpPr>
            <a:stCxn id="10" idx="1"/>
            <a:endCxn id="12" idx="0"/>
          </p:cNvCxnSpPr>
          <p:nvPr/>
        </p:nvCxnSpPr>
        <p:spPr>
          <a:xfrm rot="10800000" flipV="1">
            <a:off x="3721735" y="3131185"/>
            <a:ext cx="1073150" cy="594360"/>
          </a:xfrm>
          <a:prstGeom prst="bentConnector2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659245" y="3725545"/>
            <a:ext cx="1216660" cy="354330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抛出异常</a:t>
            </a:r>
            <a:endParaRPr lang="zh-CN" altLang="en-US"/>
          </a:p>
        </p:txBody>
      </p:sp>
      <p:cxnSp>
        <p:nvCxnSpPr>
          <p:cNvPr id="15" name="肘形连接符 14"/>
          <p:cNvCxnSpPr>
            <a:stCxn id="10" idx="3"/>
            <a:endCxn id="14" idx="0"/>
          </p:cNvCxnSpPr>
          <p:nvPr/>
        </p:nvCxnSpPr>
        <p:spPr>
          <a:xfrm>
            <a:off x="5926455" y="3131185"/>
            <a:ext cx="1341120" cy="594360"/>
          </a:xfrm>
          <a:prstGeom prst="bentConnector2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372225" y="2762885"/>
            <a:ext cx="450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C000"/>
                </a:solidFill>
              </a:rPr>
              <a:t>是</a:t>
            </a:r>
            <a:endParaRPr lang="zh-CN" altLang="en-US" b="1">
              <a:solidFill>
                <a:srgbClr val="FFC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96055" y="2762885"/>
            <a:ext cx="450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C000"/>
                </a:solidFill>
              </a:rPr>
              <a:t>否</a:t>
            </a:r>
            <a:endParaRPr lang="zh-CN" altLang="en-US" b="1">
              <a:solidFill>
                <a:srgbClr val="FFC000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3390900" y="5995670"/>
            <a:ext cx="661035" cy="602615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21" name="菱形 20"/>
          <p:cNvSpPr/>
          <p:nvPr/>
        </p:nvSpPr>
        <p:spPr>
          <a:xfrm>
            <a:off x="6611620" y="4540250"/>
            <a:ext cx="1329690" cy="986155"/>
          </a:xfrm>
          <a:prstGeom prst="diamond">
            <a:avLst/>
          </a:prstGeom>
          <a:solidFill>
            <a:srgbClr val="7030A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兜底处理</a:t>
            </a:r>
            <a:endParaRPr lang="zh-CN" altLang="en-US"/>
          </a:p>
        </p:txBody>
      </p:sp>
      <p:cxnSp>
        <p:nvCxnSpPr>
          <p:cNvPr id="22" name="直接箭头连接符 21"/>
          <p:cNvCxnSpPr>
            <a:stCxn id="14" idx="2"/>
            <a:endCxn id="21" idx="0"/>
          </p:cNvCxnSpPr>
          <p:nvPr/>
        </p:nvCxnSpPr>
        <p:spPr>
          <a:xfrm>
            <a:off x="7267575" y="4079875"/>
            <a:ext cx="8890" cy="46037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708140" y="6119495"/>
            <a:ext cx="1139190" cy="354330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默认错误</a:t>
            </a:r>
            <a:endParaRPr lang="zh-CN" altLang="en-US"/>
          </a:p>
        </p:txBody>
      </p:sp>
      <p:cxnSp>
        <p:nvCxnSpPr>
          <p:cNvPr id="24" name="直接箭头连接符 23"/>
          <p:cNvCxnSpPr>
            <a:stCxn id="21" idx="2"/>
            <a:endCxn id="23" idx="0"/>
          </p:cNvCxnSpPr>
          <p:nvPr/>
        </p:nvCxnSpPr>
        <p:spPr>
          <a:xfrm>
            <a:off x="7276465" y="5526405"/>
            <a:ext cx="1270" cy="59309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335520" y="5526405"/>
            <a:ext cx="450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C000"/>
                </a:solidFill>
              </a:rPr>
              <a:t>无</a:t>
            </a:r>
            <a:endParaRPr lang="zh-CN" altLang="en-US" b="1">
              <a:solidFill>
                <a:srgbClr val="FFC000"/>
              </a:solidFill>
            </a:endParaRPr>
          </a:p>
        </p:txBody>
      </p:sp>
      <p:cxnSp>
        <p:nvCxnSpPr>
          <p:cNvPr id="26" name="直接箭头连接符 25"/>
          <p:cNvCxnSpPr>
            <a:stCxn id="23" idx="1"/>
            <a:endCxn id="19" idx="6"/>
          </p:cNvCxnSpPr>
          <p:nvPr/>
        </p:nvCxnSpPr>
        <p:spPr>
          <a:xfrm flipH="1">
            <a:off x="4051935" y="6296660"/>
            <a:ext cx="2656205" cy="63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537075" y="4856480"/>
            <a:ext cx="1397000" cy="35433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执行</a:t>
            </a:r>
            <a:r>
              <a:rPr lang="en-US" altLang="zh-CN"/>
              <a:t>fallback</a:t>
            </a:r>
            <a:endParaRPr lang="en-US" altLang="zh-CN"/>
          </a:p>
        </p:txBody>
      </p:sp>
      <p:cxnSp>
        <p:nvCxnSpPr>
          <p:cNvPr id="28" name="直接箭头连接符 27"/>
          <p:cNvCxnSpPr>
            <a:stCxn id="21" idx="1"/>
            <a:endCxn id="27" idx="3"/>
          </p:cNvCxnSpPr>
          <p:nvPr/>
        </p:nvCxnSpPr>
        <p:spPr>
          <a:xfrm flipH="1">
            <a:off x="5934075" y="5033645"/>
            <a:ext cx="677545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2" idx="2"/>
            <a:endCxn id="19" idx="0"/>
          </p:cNvCxnSpPr>
          <p:nvPr/>
        </p:nvCxnSpPr>
        <p:spPr>
          <a:xfrm>
            <a:off x="3721735" y="4079875"/>
            <a:ext cx="0" cy="191579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6161405" y="4599940"/>
            <a:ext cx="450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C000"/>
                </a:solidFill>
              </a:rPr>
              <a:t>有</a:t>
            </a:r>
            <a:endParaRPr lang="zh-CN" altLang="en-US" b="1">
              <a:solidFill>
                <a:srgbClr val="FFC000"/>
              </a:solidFill>
            </a:endParaRPr>
          </a:p>
        </p:txBody>
      </p:sp>
      <p:cxnSp>
        <p:nvCxnSpPr>
          <p:cNvPr id="32" name="肘形连接符 31"/>
          <p:cNvCxnSpPr>
            <a:stCxn id="27" idx="1"/>
          </p:cNvCxnSpPr>
          <p:nvPr/>
        </p:nvCxnSpPr>
        <p:spPr>
          <a:xfrm rot="10800000" flipV="1">
            <a:off x="3739515" y="5033010"/>
            <a:ext cx="796925" cy="936625"/>
          </a:xfrm>
          <a:prstGeom prst="bentConnector2">
            <a:avLst/>
          </a:prstGeom>
          <a:ln w="28575" cap="rnd" cmpd="sng">
            <a:solidFill>
              <a:srgbClr val="00B050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5" grpId="0" bldLvl="0" animBg="1"/>
      <p:bldP spid="4" grpId="0" bldLvl="0" animBg="1"/>
      <p:bldP spid="9" grpId="0" bldLvl="0" animBg="1"/>
      <p:bldP spid="10" grpId="0" bldLvl="0" animBg="1"/>
      <p:bldP spid="17" grpId="0"/>
      <p:bldP spid="12" grpId="0" bldLvl="0" animBg="1"/>
      <p:bldP spid="19" grpId="0" bldLvl="0" animBg="1"/>
      <p:bldP spid="16" grpId="0"/>
      <p:bldP spid="14" grpId="0" bldLvl="0" animBg="1"/>
      <p:bldP spid="21" grpId="0" bldLvl="0" animBg="1"/>
      <p:bldP spid="25" grpId="0"/>
      <p:bldP spid="23" grpId="0" bldLvl="0" animBg="1"/>
      <p:bldP spid="30" grpId="0"/>
      <p:bldP spid="27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6242050" y="1512570"/>
            <a:ext cx="3898265" cy="205930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l"/>
            <a:r>
              <a:rPr lang="en-US" altLang="zh-CN"/>
              <a:t>App</a:t>
            </a:r>
            <a:endParaRPr lang="en-US" altLang="zh-CN"/>
          </a:p>
        </p:txBody>
      </p:sp>
      <p:sp>
        <p:nvSpPr>
          <p:cNvPr id="37" name="矩形 36"/>
          <p:cNvSpPr/>
          <p:nvPr/>
        </p:nvSpPr>
        <p:spPr>
          <a:xfrm>
            <a:off x="1368425" y="4615815"/>
            <a:ext cx="3103880" cy="165671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l"/>
            <a:r>
              <a:rPr lang="zh-CN" altLang="en-US"/>
              <a:t>扩展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70915" y="1512570"/>
            <a:ext cx="3898265" cy="205930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l"/>
            <a:r>
              <a:rPr lang="en-US" altLang="zh-CN">
                <a:sym typeface="+mn-ea"/>
              </a:rPr>
              <a:t>Sentinel Dashboard</a:t>
            </a:r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整合使用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346315" y="2907665"/>
            <a:ext cx="1972945" cy="4508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资源埋点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346315" y="1699895"/>
            <a:ext cx="1972945" cy="4508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Sentinel </a:t>
            </a:r>
            <a:r>
              <a:rPr lang="zh-CN" altLang="en-US"/>
              <a:t>场景依赖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346315" y="2303780"/>
            <a:ext cx="1972945" cy="4508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Sentinel </a:t>
            </a:r>
            <a:r>
              <a:rPr lang="zh-CN" altLang="en-US"/>
              <a:t>整合配置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135505" y="2091690"/>
            <a:ext cx="1972945" cy="4508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Dashboard </a:t>
            </a:r>
            <a:r>
              <a:rPr lang="zh-CN" altLang="en-US"/>
              <a:t>启动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135505" y="2848610"/>
            <a:ext cx="1972945" cy="4508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/>
              <a:t>定义规则</a:t>
            </a:r>
            <a:endParaRPr lang="zh-CN"/>
          </a:p>
        </p:txBody>
      </p:sp>
      <p:sp>
        <p:nvSpPr>
          <p:cNvPr id="13" name="矩形 12"/>
          <p:cNvSpPr/>
          <p:nvPr/>
        </p:nvSpPr>
        <p:spPr>
          <a:xfrm>
            <a:off x="6641465" y="4596765"/>
            <a:ext cx="3103880" cy="165671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l"/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73925" y="4992370"/>
            <a:ext cx="1972945" cy="450850"/>
          </a:xfrm>
          <a:prstGeom prst="rect">
            <a:avLst/>
          </a:prstGeom>
          <a:solidFill>
            <a:srgbClr val="00206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/>
              <a:t>正常访问测试</a:t>
            </a:r>
            <a:endParaRPr lang="zh-CN"/>
          </a:p>
        </p:txBody>
      </p:sp>
      <p:sp>
        <p:nvSpPr>
          <p:cNvPr id="15" name="矩形 14"/>
          <p:cNvSpPr/>
          <p:nvPr/>
        </p:nvSpPr>
        <p:spPr>
          <a:xfrm>
            <a:off x="7273925" y="5621020"/>
            <a:ext cx="1972945" cy="45085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/>
              <a:t>触犯规则测试</a:t>
            </a:r>
            <a:endParaRPr lang="zh-CN"/>
          </a:p>
        </p:txBody>
      </p:sp>
      <p:sp>
        <p:nvSpPr>
          <p:cNvPr id="16" name="矩形 15"/>
          <p:cNvSpPr/>
          <p:nvPr/>
        </p:nvSpPr>
        <p:spPr>
          <a:xfrm>
            <a:off x="2364740" y="5214620"/>
            <a:ext cx="1743710" cy="507365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异常处理机制</a:t>
            </a:r>
            <a:endParaRPr lang="zh-CN" altLang="en-US"/>
          </a:p>
        </p:txBody>
      </p:sp>
      <p:cxnSp>
        <p:nvCxnSpPr>
          <p:cNvPr id="19" name="直接箭头连接符 18"/>
          <p:cNvCxnSpPr>
            <a:stCxn id="6" idx="3"/>
            <a:endCxn id="11" idx="1"/>
          </p:cNvCxnSpPr>
          <p:nvPr/>
        </p:nvCxnSpPr>
        <p:spPr>
          <a:xfrm>
            <a:off x="4869180" y="2542540"/>
            <a:ext cx="137287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229995" y="2245995"/>
            <a:ext cx="551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C000"/>
                </a:solidFill>
              </a:rPr>
              <a:t>①</a:t>
            </a:r>
            <a:endParaRPr lang="zh-CN" altLang="en-US" sz="2800" b="1">
              <a:solidFill>
                <a:srgbClr val="FFC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447790" y="2287270"/>
            <a:ext cx="551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C000"/>
                </a:solidFill>
              </a:rPr>
              <a:t>②</a:t>
            </a:r>
            <a:endParaRPr lang="zh-CN" altLang="en-US" sz="2800" b="1">
              <a:solidFill>
                <a:srgbClr val="FFC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41465" y="5180965"/>
            <a:ext cx="551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C000"/>
                </a:solidFill>
              </a:rPr>
              <a:t>③</a:t>
            </a:r>
            <a:endParaRPr lang="zh-CN" altLang="en-US" sz="2800" b="1">
              <a:solidFill>
                <a:srgbClr val="FFC000"/>
              </a:solidFill>
            </a:endParaRPr>
          </a:p>
        </p:txBody>
      </p:sp>
      <p:cxnSp>
        <p:nvCxnSpPr>
          <p:cNvPr id="31" name="直接箭头连接符 30"/>
          <p:cNvCxnSpPr>
            <a:stCxn id="11" idx="2"/>
            <a:endCxn id="13" idx="0"/>
          </p:cNvCxnSpPr>
          <p:nvPr/>
        </p:nvCxnSpPr>
        <p:spPr>
          <a:xfrm>
            <a:off x="8191500" y="3571875"/>
            <a:ext cx="1905" cy="102489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538605" y="5214620"/>
            <a:ext cx="551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C000"/>
                </a:solidFill>
              </a:rPr>
              <a:t>④</a:t>
            </a:r>
            <a:endParaRPr lang="zh-CN" altLang="en-US" sz="2800" b="1">
              <a:solidFill>
                <a:srgbClr val="FFC000"/>
              </a:solidFill>
            </a:endParaRPr>
          </a:p>
        </p:txBody>
      </p:sp>
      <p:cxnSp>
        <p:nvCxnSpPr>
          <p:cNvPr id="39" name="直接箭头连接符 38"/>
          <p:cNvCxnSpPr>
            <a:stCxn id="30" idx="1"/>
            <a:endCxn id="37" idx="3"/>
          </p:cNvCxnSpPr>
          <p:nvPr/>
        </p:nvCxnSpPr>
        <p:spPr>
          <a:xfrm flipH="1">
            <a:off x="4472305" y="5441950"/>
            <a:ext cx="2169160" cy="254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异常处理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52315" y="282575"/>
            <a:ext cx="1140460" cy="450850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抛出异常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56360" y="1880235"/>
            <a:ext cx="1312545" cy="45974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Web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26535" y="1880235"/>
            <a:ext cx="2192655" cy="45974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/>
              <a:t>@SentinelResource</a:t>
            </a: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7449820" y="1880235"/>
            <a:ext cx="1981835" cy="45974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/>
              <a:t>OpenFeign</a:t>
            </a:r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179570" y="1142365"/>
            <a:ext cx="1887220" cy="440690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BlockException</a:t>
            </a:r>
            <a:endParaRPr lang="en-US" altLang="zh-CN"/>
          </a:p>
        </p:txBody>
      </p:sp>
      <p:cxnSp>
        <p:nvCxnSpPr>
          <p:cNvPr id="8" name="直接箭头连接符 7"/>
          <p:cNvCxnSpPr>
            <a:stCxn id="5" idx="2"/>
            <a:endCxn id="7" idx="0"/>
          </p:cNvCxnSpPr>
          <p:nvPr/>
        </p:nvCxnSpPr>
        <p:spPr>
          <a:xfrm>
            <a:off x="5122545" y="733425"/>
            <a:ext cx="635" cy="40894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" idx="1"/>
            <a:endCxn id="3" idx="0"/>
          </p:cNvCxnSpPr>
          <p:nvPr/>
        </p:nvCxnSpPr>
        <p:spPr>
          <a:xfrm flipH="1">
            <a:off x="2012950" y="1362710"/>
            <a:ext cx="2166620" cy="51752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2"/>
            <a:endCxn id="4" idx="0"/>
          </p:cNvCxnSpPr>
          <p:nvPr/>
        </p:nvCxnSpPr>
        <p:spPr>
          <a:xfrm>
            <a:off x="5123180" y="1583055"/>
            <a:ext cx="0" cy="29718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7" idx="3"/>
            <a:endCxn id="6" idx="0"/>
          </p:cNvCxnSpPr>
          <p:nvPr/>
        </p:nvCxnSpPr>
        <p:spPr>
          <a:xfrm>
            <a:off x="6066790" y="1362710"/>
            <a:ext cx="2374265" cy="51752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72160" y="2746375"/>
            <a:ext cx="2480945" cy="4895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SentinelWebInterceptor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3" idx="2"/>
            <a:endCxn id="13" idx="0"/>
          </p:cNvCxnSpPr>
          <p:nvPr/>
        </p:nvCxnSpPr>
        <p:spPr>
          <a:xfrm>
            <a:off x="2012950" y="2339975"/>
            <a:ext cx="0" cy="40640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98805" y="3855085"/>
            <a:ext cx="2825750" cy="431165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默认</a:t>
            </a:r>
            <a:r>
              <a:rPr lang="en-US" altLang="zh-CN"/>
              <a:t>BlockExceptionHandler</a:t>
            </a:r>
            <a:endParaRPr lang="zh-CN" altLang="en-US"/>
          </a:p>
        </p:txBody>
      </p:sp>
      <p:cxnSp>
        <p:nvCxnSpPr>
          <p:cNvPr id="16" name="直接箭头连接符 15"/>
          <p:cNvCxnSpPr>
            <a:stCxn id="13" idx="2"/>
            <a:endCxn id="15" idx="0"/>
          </p:cNvCxnSpPr>
          <p:nvPr/>
        </p:nvCxnSpPr>
        <p:spPr>
          <a:xfrm flipH="1">
            <a:off x="2011680" y="3235960"/>
            <a:ext cx="1270" cy="61912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106805" y="4905375"/>
            <a:ext cx="1800225" cy="335280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自定义</a:t>
            </a:r>
            <a:r>
              <a:rPr lang="en-US" altLang="zh-CN"/>
              <a:t> BEH</a:t>
            </a:r>
            <a:endParaRPr lang="en-US" altLang="zh-CN"/>
          </a:p>
        </p:txBody>
      </p:sp>
      <p:cxnSp>
        <p:nvCxnSpPr>
          <p:cNvPr id="18" name="直接箭头连接符 17"/>
          <p:cNvCxnSpPr>
            <a:stCxn id="15" idx="2"/>
            <a:endCxn id="17" idx="0"/>
          </p:cNvCxnSpPr>
          <p:nvPr/>
        </p:nvCxnSpPr>
        <p:spPr>
          <a:xfrm flipH="1">
            <a:off x="2007235" y="4286250"/>
            <a:ext cx="4445" cy="61912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881755" y="2729230"/>
            <a:ext cx="2480945" cy="4895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SentinelResourceAspect</a:t>
            </a:r>
            <a:endParaRPr lang="en-US" altLang="zh-CN"/>
          </a:p>
        </p:txBody>
      </p:sp>
      <p:cxnSp>
        <p:nvCxnSpPr>
          <p:cNvPr id="20" name="直接箭头连接符 19"/>
          <p:cNvCxnSpPr>
            <a:stCxn id="4" idx="2"/>
            <a:endCxn id="19" idx="0"/>
          </p:cNvCxnSpPr>
          <p:nvPr/>
        </p:nvCxnSpPr>
        <p:spPr>
          <a:xfrm flipH="1">
            <a:off x="5122545" y="2339975"/>
            <a:ext cx="635" cy="38925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538855" y="3850005"/>
            <a:ext cx="1431290" cy="431165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blockHandler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494655" y="3855085"/>
            <a:ext cx="1431290" cy="431165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fallback</a:t>
            </a:r>
            <a:endParaRPr lang="zh-CN" altLang="en-US"/>
          </a:p>
        </p:txBody>
      </p:sp>
      <p:cxnSp>
        <p:nvCxnSpPr>
          <p:cNvPr id="23" name="肘形连接符 22"/>
          <p:cNvCxnSpPr>
            <a:stCxn id="19" idx="2"/>
            <a:endCxn id="21" idx="0"/>
          </p:cNvCxnSpPr>
          <p:nvPr/>
        </p:nvCxnSpPr>
        <p:spPr>
          <a:xfrm rot="5400000">
            <a:off x="4372610" y="3100070"/>
            <a:ext cx="631190" cy="868045"/>
          </a:xfrm>
          <a:prstGeom prst="bentConnector3">
            <a:avLst>
              <a:gd name="adj1" fmla="val 49950"/>
            </a:avLst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19" idx="2"/>
            <a:endCxn id="22" idx="0"/>
          </p:cNvCxnSpPr>
          <p:nvPr/>
        </p:nvCxnSpPr>
        <p:spPr>
          <a:xfrm rot="5400000" flipV="1">
            <a:off x="5347970" y="2992755"/>
            <a:ext cx="636270" cy="1087755"/>
          </a:xfrm>
          <a:prstGeom prst="bentConnector3">
            <a:avLst>
              <a:gd name="adj1" fmla="val 49950"/>
            </a:avLst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616450" y="4912360"/>
            <a:ext cx="3686175" cy="335280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兜底回调</a:t>
            </a: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207885" y="2729230"/>
            <a:ext cx="2480945" cy="4895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SentinelFeign.builder()</a:t>
            </a:r>
            <a:endParaRPr lang="en-US" altLang="zh-CN"/>
          </a:p>
        </p:txBody>
      </p:sp>
      <p:cxnSp>
        <p:nvCxnSpPr>
          <p:cNvPr id="30" name="直接箭头连接符 29"/>
          <p:cNvCxnSpPr>
            <a:stCxn id="6" idx="2"/>
            <a:endCxn id="27" idx="0"/>
          </p:cNvCxnSpPr>
          <p:nvPr/>
        </p:nvCxnSpPr>
        <p:spPr>
          <a:xfrm>
            <a:off x="8441055" y="2339975"/>
            <a:ext cx="7620" cy="38925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7728585" y="3820795"/>
            <a:ext cx="1431290" cy="431165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fallback</a:t>
            </a:r>
            <a:endParaRPr lang="zh-CN" altLang="en-US"/>
          </a:p>
        </p:txBody>
      </p:sp>
      <p:cxnSp>
        <p:nvCxnSpPr>
          <p:cNvPr id="33" name="直接箭头连接符 32"/>
          <p:cNvCxnSpPr>
            <a:stCxn id="27" idx="2"/>
            <a:endCxn id="31" idx="0"/>
          </p:cNvCxnSpPr>
          <p:nvPr/>
        </p:nvCxnSpPr>
        <p:spPr>
          <a:xfrm flipH="1">
            <a:off x="8444230" y="3218815"/>
            <a:ext cx="4445" cy="60198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9" name="右大括号 38"/>
          <p:cNvSpPr/>
          <p:nvPr/>
        </p:nvSpPr>
        <p:spPr>
          <a:xfrm rot="5400000">
            <a:off x="6261735" y="2651760"/>
            <a:ext cx="280035" cy="3801110"/>
          </a:xfrm>
          <a:prstGeom prst="rightBrace">
            <a:avLst>
              <a:gd name="adj1" fmla="val 76303"/>
              <a:gd name="adj2" fmla="val 49807"/>
            </a:avLst>
          </a:prstGeom>
          <a:ln w="28575" cap="rnd" cmpd="sng">
            <a:solidFill>
              <a:schemeClr val="bg1"/>
            </a:solidFill>
            <a:prstDash val="solid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5122545" y="5801360"/>
            <a:ext cx="2694305" cy="383540"/>
          </a:xfrm>
          <a:prstGeom prst="rect">
            <a:avLst/>
          </a:prstGeom>
          <a:solidFill>
            <a:srgbClr val="FF000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SpringBoot</a:t>
            </a:r>
            <a:r>
              <a:rPr lang="zh-CN" altLang="en-US"/>
              <a:t>全局异常处理</a:t>
            </a:r>
            <a:endParaRPr lang="zh-CN" altLang="en-US"/>
          </a:p>
        </p:txBody>
      </p:sp>
      <p:cxnSp>
        <p:nvCxnSpPr>
          <p:cNvPr id="44" name="直接箭头连接符 43"/>
          <p:cNvCxnSpPr>
            <a:stCxn id="25" idx="2"/>
            <a:endCxn id="41" idx="0"/>
          </p:cNvCxnSpPr>
          <p:nvPr/>
        </p:nvCxnSpPr>
        <p:spPr>
          <a:xfrm>
            <a:off x="6459855" y="5247640"/>
            <a:ext cx="10160" cy="55372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10076180" y="1880235"/>
            <a:ext cx="1646555" cy="459740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SphU </a:t>
            </a:r>
            <a:r>
              <a:rPr lang="zh-CN" altLang="en-US"/>
              <a:t>硬编码</a:t>
            </a:r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0076180" y="2729230"/>
            <a:ext cx="1645920" cy="4895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try-catch</a:t>
            </a:r>
            <a:endParaRPr lang="en-US" altLang="zh-CN"/>
          </a:p>
        </p:txBody>
      </p:sp>
      <p:cxnSp>
        <p:nvCxnSpPr>
          <p:cNvPr id="49" name="直接箭头连接符 48"/>
          <p:cNvCxnSpPr>
            <a:stCxn id="45" idx="2"/>
            <a:endCxn id="48" idx="0"/>
          </p:cNvCxnSpPr>
          <p:nvPr/>
        </p:nvCxnSpPr>
        <p:spPr>
          <a:xfrm flipH="1">
            <a:off x="10899140" y="2339975"/>
            <a:ext cx="635" cy="38925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7" idx="3"/>
            <a:endCxn id="45" idx="0"/>
          </p:cNvCxnSpPr>
          <p:nvPr/>
        </p:nvCxnSpPr>
        <p:spPr>
          <a:xfrm>
            <a:off x="6066790" y="1362710"/>
            <a:ext cx="4832985" cy="51752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流量控制（</a:t>
            </a:r>
            <a:r>
              <a:rPr lang="en-US" altLang="zh-CN"/>
              <a:t>FlowRule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450" y="1644650"/>
            <a:ext cx="8456930" cy="26479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68450" y="4946015"/>
            <a:ext cx="8456930" cy="66103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2800"/>
              <a:t>限制多余请求，从而保护系统资源不被耗尽</a:t>
            </a:r>
            <a:endParaRPr lang="zh-CN" altLang="en-US" sz="2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流量控制（</a:t>
            </a:r>
            <a:r>
              <a:rPr lang="en-US" altLang="zh-CN"/>
              <a:t>FlowRule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4890" y="1309370"/>
            <a:ext cx="7007225" cy="448119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流量控制（</a:t>
            </a:r>
            <a:r>
              <a:rPr lang="en-US" altLang="zh-CN"/>
              <a:t>FlowRule</a:t>
            </a:r>
            <a:r>
              <a:rPr lang="zh-CN" altLang="en-US"/>
              <a:t>）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13080" y="1530350"/>
          <a:ext cx="1116584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795"/>
                <a:gridCol w="5920740"/>
                <a:gridCol w="3202305"/>
              </a:tblGrid>
              <a:tr h="3784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属性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默认值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resource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资源名，资源名是限流规则的作用对象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count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400" b="0" i="0"/>
                        <a:t>限流阈值</a:t>
                      </a:r>
                      <a:endParaRPr lang="en-US" altLang="zh-CN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grade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限流阈值类型，</a:t>
                      </a:r>
                      <a:r>
                        <a:rPr lang="zh-CN" altLang="en-US" sz="1400" b="1">
                          <a:solidFill>
                            <a:srgbClr val="FF0000"/>
                          </a:solidFill>
                        </a:rPr>
                        <a:t>QPS 模式</a:t>
                      </a:r>
                      <a:r>
                        <a:rPr lang="zh-CN" altLang="en-US" sz="1400"/>
                        <a:t>（1）或</a:t>
                      </a:r>
                      <a:r>
                        <a:rPr lang="zh-CN" altLang="en-US" sz="1400" b="1">
                          <a:solidFill>
                            <a:srgbClr val="FF0000"/>
                          </a:solidFill>
                        </a:rPr>
                        <a:t>并发线程数模式</a:t>
                      </a:r>
                      <a:r>
                        <a:rPr lang="zh-CN" altLang="en-US" sz="1400"/>
                        <a:t>（0）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QPS 模式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limitApp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流控针对的调用来源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default，代表不区分调用来源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strategy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调用关系限流策略：</a:t>
                      </a:r>
                      <a:r>
                        <a:rPr lang="zh-CN" altLang="en-US" sz="1400" b="1">
                          <a:solidFill>
                            <a:srgbClr val="FF0000"/>
                          </a:solidFill>
                        </a:rPr>
                        <a:t>直接</a:t>
                      </a:r>
                      <a:r>
                        <a:rPr lang="zh-CN" altLang="en-US" sz="1400"/>
                        <a:t>、</a:t>
                      </a:r>
                      <a:r>
                        <a:rPr lang="zh-CN" altLang="en-US" sz="1400" b="1">
                          <a:solidFill>
                            <a:srgbClr val="FF0000"/>
                          </a:solidFill>
                        </a:rPr>
                        <a:t>链路</a:t>
                      </a:r>
                      <a:r>
                        <a:rPr lang="zh-CN" altLang="en-US" sz="1400"/>
                        <a:t>、</a:t>
                      </a:r>
                      <a:r>
                        <a:rPr lang="zh-CN" altLang="en-US" sz="1400" b="1">
                          <a:solidFill>
                            <a:srgbClr val="FF0000"/>
                          </a:solidFill>
                        </a:rPr>
                        <a:t>关联</a:t>
                      </a:r>
                      <a:endParaRPr lang="zh-CN" altLang="en-US" sz="14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直接</a:t>
                      </a:r>
                      <a:r>
                        <a:rPr lang="zh-CN" altLang="en-US" sz="1400"/>
                        <a:t>（</a:t>
                      </a:r>
                      <a:r>
                        <a:rPr lang="zh-CN" altLang="en-US" sz="1400">
                          <a:sym typeface="+mn-ea"/>
                        </a:rPr>
                        <a:t>根据资源本身</a:t>
                      </a:r>
                      <a:r>
                        <a:rPr lang="zh-CN" altLang="en-US" sz="1400"/>
                        <a:t>）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controlBehavior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流控效果（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</a:rPr>
                        <a:t>直接拒绝</a:t>
                      </a:r>
                      <a:r>
                        <a:rPr lang="zh-CN" altLang="en-US" sz="1400" b="0" i="0"/>
                        <a:t>/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</a:rPr>
                        <a:t>WarmUp</a:t>
                      </a:r>
                      <a:r>
                        <a:rPr lang="zh-CN" altLang="en-US" sz="1400" b="0" i="0"/>
                        <a:t>/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</a:rPr>
                        <a:t>匀速+排队等待</a:t>
                      </a:r>
                      <a:r>
                        <a:rPr lang="zh-CN" altLang="en-US" sz="1400" b="0" i="0"/>
                        <a:t>），不支持按调用关系限流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直接拒绝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clusterMode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是否集群限流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否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24485"/>
            <a:ext cx="9469755" cy="667385"/>
          </a:xfrm>
        </p:spPr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流量控制（</a:t>
            </a:r>
            <a:r>
              <a:rPr lang="en-US" altLang="zh-CN"/>
              <a:t>FlowRule</a:t>
            </a:r>
            <a:r>
              <a:rPr lang="zh-CN" altLang="en-US"/>
              <a:t>）</a:t>
            </a:r>
            <a:r>
              <a:rPr lang="en-US" altLang="zh-CN"/>
              <a:t>- </a:t>
            </a:r>
            <a:r>
              <a:rPr lang="zh-CN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阈值</a:t>
            </a:r>
            <a:r>
              <a:rPr lang="zh-CN" altLang="en-US"/>
              <a:t>类型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64235" y="2307590"/>
            <a:ext cx="33915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C000"/>
                </a:solidFill>
              </a:rPr>
              <a:t>QPS</a:t>
            </a:r>
            <a:r>
              <a:rPr lang="zh-CN" altLang="en-US">
                <a:solidFill>
                  <a:srgbClr val="FFC000"/>
                </a:solidFill>
              </a:rPr>
              <a:t>：</a:t>
            </a:r>
            <a:endParaRPr lang="zh-CN" altLang="en-US">
              <a:solidFill>
                <a:srgbClr val="FFC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C000"/>
                </a:solidFill>
              </a:rPr>
              <a:t>统计每秒请求数</a:t>
            </a:r>
            <a:endParaRPr lang="zh-CN" altLang="en-US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C000"/>
                </a:solidFill>
              </a:rPr>
              <a:t>并发线程数：</a:t>
            </a:r>
            <a:endParaRPr lang="zh-CN" altLang="en-US">
              <a:solidFill>
                <a:srgbClr val="FFC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C000"/>
                </a:solidFill>
              </a:rPr>
              <a:t>统计并发线程数</a:t>
            </a:r>
            <a:endParaRPr lang="zh-CN" altLang="en-US">
              <a:solidFill>
                <a:srgbClr val="FFC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35" y="1450975"/>
            <a:ext cx="6574155" cy="5689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24485"/>
            <a:ext cx="9469755" cy="667385"/>
          </a:xfrm>
        </p:spPr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流量控制（</a:t>
            </a:r>
            <a:r>
              <a:rPr lang="en-US" altLang="zh-CN"/>
              <a:t>FlowRule</a:t>
            </a:r>
            <a:r>
              <a:rPr lang="zh-CN" altLang="en-US"/>
              <a:t>）</a:t>
            </a:r>
            <a:r>
              <a:rPr lang="en-US" altLang="zh-CN"/>
              <a:t>- </a:t>
            </a:r>
            <a:r>
              <a:rPr lang="zh-CN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流控模式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45" y="1203960"/>
            <a:ext cx="7310120" cy="628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06145" y="2044700"/>
            <a:ext cx="9914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00"/>
                </a:solidFill>
              </a:rPr>
              <a:t>调用关系包括调用方、被调用方；一个方法又可能会调用其它方法，形成一个调用链路的层次关系；有了调用链路的统计信息，我们可以衍生出多种流量控制手段。</a:t>
            </a:r>
            <a:endParaRPr lang="zh-CN" altLang="en-US">
              <a:solidFill>
                <a:srgbClr val="FFC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227070"/>
            <a:ext cx="5151120" cy="3162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30" y="3227070"/>
            <a:ext cx="3589020" cy="21564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24485"/>
            <a:ext cx="9469755" cy="667385"/>
          </a:xfrm>
        </p:spPr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流量控制（</a:t>
            </a:r>
            <a:r>
              <a:rPr lang="en-US" altLang="zh-CN"/>
              <a:t>FlowRule</a:t>
            </a:r>
            <a:r>
              <a:rPr lang="zh-CN" altLang="en-US"/>
              <a:t>）</a:t>
            </a:r>
            <a:r>
              <a:rPr lang="en-US" altLang="zh-CN"/>
              <a:t>- </a:t>
            </a:r>
            <a:r>
              <a:rPr lang="zh-CN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流控</a:t>
            </a:r>
            <a:r>
              <a:rPr lang="zh-CN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效果</a:t>
            </a:r>
            <a:endParaRPr 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70" y="1118235"/>
            <a:ext cx="5194300" cy="5314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33070" y="2230755"/>
            <a:ext cx="5079365" cy="1334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C000"/>
                </a:solidFill>
              </a:rPr>
              <a:t>注意：只有</a:t>
            </a:r>
            <a:r>
              <a:rPr lang="zh-CN" altLang="en-US">
                <a:solidFill>
                  <a:srgbClr val="00B050"/>
                </a:solidFill>
              </a:rPr>
              <a:t>快速失败</a:t>
            </a:r>
            <a:r>
              <a:rPr lang="zh-CN" altLang="en-US">
                <a:solidFill>
                  <a:srgbClr val="FFC000"/>
                </a:solidFill>
              </a:rPr>
              <a:t>支持</a:t>
            </a:r>
            <a:r>
              <a:rPr lang="zh-CN" altLang="en-US">
                <a:solidFill>
                  <a:srgbClr val="00B050"/>
                </a:solidFill>
              </a:rPr>
              <a:t>流控模式</a:t>
            </a:r>
            <a:r>
              <a:rPr lang="zh-CN" altLang="en-US">
                <a:solidFill>
                  <a:srgbClr val="FFC000"/>
                </a:solidFill>
              </a:rPr>
              <a:t>（直接、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FFC000"/>
                </a:solidFill>
              </a:rPr>
              <a:t>关联、链路）的</a:t>
            </a:r>
            <a:r>
              <a:rPr lang="zh-CN" altLang="en-US">
                <a:solidFill>
                  <a:srgbClr val="00B050"/>
                </a:solidFill>
              </a:rPr>
              <a:t>设置</a:t>
            </a:r>
            <a:endParaRPr lang="zh-CN" altLang="en-US">
              <a:solidFill>
                <a:srgbClr val="00B05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360" y="1118235"/>
            <a:ext cx="5158740" cy="509778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139315" y="4711700"/>
            <a:ext cx="2270125" cy="53594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漏桶算法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24485"/>
            <a:ext cx="9469755" cy="667385"/>
          </a:xfrm>
        </p:spPr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流量控制（</a:t>
            </a:r>
            <a:r>
              <a:rPr lang="en-US" altLang="zh-CN"/>
              <a:t>FlowRule</a:t>
            </a:r>
            <a:r>
              <a:rPr lang="zh-CN" altLang="en-US"/>
              <a:t>）</a:t>
            </a:r>
            <a:r>
              <a:rPr lang="en-US" altLang="zh-CN"/>
              <a:t>- </a:t>
            </a:r>
            <a:r>
              <a:rPr lang="zh-CN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流控</a:t>
            </a:r>
            <a:r>
              <a:rPr lang="zh-CN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效果</a:t>
            </a:r>
            <a:endParaRPr 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518920"/>
            <a:ext cx="4914900" cy="4237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04950"/>
            <a:ext cx="5281930" cy="1924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73505" y="5947410"/>
            <a:ext cx="3016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Warm Up</a:t>
            </a:r>
            <a:endParaRPr lang="en-US" altLang="zh-CN"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44665" y="3536315"/>
            <a:ext cx="3016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00"/>
                </a:solidFill>
              </a:rPr>
              <a:t>匀速排队</a:t>
            </a:r>
            <a:endParaRPr lang="zh-CN" alt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8488680" y="4404995"/>
            <a:ext cx="996950" cy="93916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熔断降级（</a:t>
            </a:r>
            <a:r>
              <a:rPr lang="en-US" altLang="zh-CN"/>
              <a:t>DegradeRule</a:t>
            </a:r>
            <a:r>
              <a:rPr lang="zh-CN" altLang="en-US"/>
              <a:t>）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1597660"/>
            <a:ext cx="6779895" cy="424561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394065" y="1597660"/>
            <a:ext cx="2433320" cy="5556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切断不稳定调用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394065" y="2962910"/>
            <a:ext cx="2433320" cy="5556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避免雪崩效应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94065" y="2280285"/>
            <a:ext cx="2433320" cy="5556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快速返回不积压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3425" y="6118225"/>
            <a:ext cx="819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00"/>
                </a:solidFill>
              </a:rPr>
              <a:t>最佳实践：熔断降级作为保护自身的手段，通常在客户端（调用端）进行配置。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44940" y="5046980"/>
            <a:ext cx="9963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C000"/>
                </a:solidFill>
              </a:rPr>
              <a:t>断路器</a:t>
            </a:r>
            <a:endParaRPr lang="zh-CN" altLang="en-US" sz="1200">
              <a:solidFill>
                <a:srgbClr val="FFC000"/>
              </a:solidFill>
            </a:endParaRPr>
          </a:p>
        </p:txBody>
      </p:sp>
      <p:pic>
        <p:nvPicPr>
          <p:cNvPr id="14" name="图片 13" descr="单刀开关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2410" y="4576445"/>
            <a:ext cx="483870" cy="48387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1052810" y="4542155"/>
            <a:ext cx="739140" cy="5556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cxnSp>
        <p:nvCxnSpPr>
          <p:cNvPr id="17" name="直接箭头连接符 16"/>
          <p:cNvCxnSpPr>
            <a:stCxn id="14" idx="3"/>
            <a:endCxn id="16" idx="1"/>
          </p:cNvCxnSpPr>
          <p:nvPr/>
        </p:nvCxnSpPr>
        <p:spPr>
          <a:xfrm>
            <a:off x="9606280" y="4818380"/>
            <a:ext cx="1446530" cy="190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9702800" y="4223385"/>
            <a:ext cx="729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00"/>
                </a:solidFill>
              </a:rPr>
              <a:t>闭合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702800" y="4954270"/>
            <a:ext cx="729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00"/>
                </a:solidFill>
              </a:rPr>
              <a:t>打开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215880" y="4542155"/>
            <a:ext cx="729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C000"/>
                </a:solidFill>
              </a:rPr>
              <a:t>半开</a:t>
            </a:r>
            <a:endParaRPr lang="zh-CN" altLang="en-US" sz="140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fb62a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9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5" grpId="0" animBg="1"/>
      <p:bldP spid="9" grpId="0"/>
      <p:bldP spid="13" grpId="0"/>
      <p:bldP spid="15" grpId="0" animBg="1"/>
      <p:bldP spid="16" grpId="0" animBg="1"/>
      <p:bldP spid="18" grpId="0"/>
      <p:bldP spid="19" grpId="0"/>
      <p:bldP spid="15" grpId="1" animBg="1"/>
      <p:bldP spid="2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熔断</a:t>
            </a:r>
            <a:r>
              <a:rPr lang="zh-CN" altLang="en-US"/>
              <a:t>降级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90" y="1094740"/>
            <a:ext cx="10539095" cy="535051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熔断</a:t>
            </a:r>
            <a:r>
              <a:rPr lang="zh-CN" altLang="en-US"/>
              <a:t>降级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13080" y="1530350"/>
          <a:ext cx="1116584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795"/>
                <a:gridCol w="5920740"/>
                <a:gridCol w="3202305"/>
              </a:tblGrid>
              <a:tr h="3784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属性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默认值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resource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资源名，必填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grade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熔断策略，支持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</a:rPr>
                        <a:t>慢调用比例</a:t>
                      </a:r>
                      <a:r>
                        <a:rPr lang="zh-CN" altLang="en-US" sz="1400" b="0" i="0"/>
                        <a:t>/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</a:rPr>
                        <a:t>异常比例</a:t>
                      </a:r>
                      <a:r>
                        <a:rPr lang="zh-CN" altLang="en-US" sz="1400" b="0" i="0"/>
                        <a:t>/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</a:rPr>
                        <a:t>异常数</a:t>
                      </a:r>
                      <a:r>
                        <a:rPr lang="zh-CN" altLang="en-US" sz="1400" b="0" i="0"/>
                        <a:t>策略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慢调用比例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count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慢调用比例模式下为慢调用临界 RT（超出该值计为慢调用）；异常比例/异常数模式下为对应的阈值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timeWindow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熔断时长，单位为 s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minRequestAmount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熔断触发的最小请求数，请求数小于该值时即使异常比率超出阈值也不会熔断（1.7.0 引入）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5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statIntervalMs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统计时长（单位为 ms），如 60*1000 代表分钟级（1.8.0 引入）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1000 ms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slowRatioThreshold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慢调用比例阈值，仅慢调用比例模式有效（1.8.0 引入）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913765" y="1398270"/>
            <a:ext cx="8390255" cy="190500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l"/>
            <a:r>
              <a:rPr lang="zh-CN" altLang="en-US"/>
              <a:t>无熔断规则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/>
              <a:t>熔断</a:t>
            </a:r>
            <a:r>
              <a:rPr lang="zh-CN" altLang="en-US"/>
              <a:t>降级</a:t>
            </a:r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287145" y="2144395"/>
            <a:ext cx="1101725" cy="554990"/>
          </a:xfrm>
          <a:prstGeom prst="rect">
            <a:avLst/>
          </a:prstGeom>
          <a:solidFill>
            <a:srgbClr val="00206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273800" y="2144395"/>
            <a:ext cx="1101725" cy="554990"/>
          </a:xfrm>
          <a:prstGeom prst="rect">
            <a:avLst/>
          </a:prstGeom>
          <a:solidFill>
            <a:srgbClr val="00206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cxnSp>
        <p:nvCxnSpPr>
          <p:cNvPr id="5" name="直接箭头连接符 4"/>
          <p:cNvCxnSpPr>
            <a:stCxn id="3" idx="3"/>
            <a:endCxn id="4" idx="1"/>
          </p:cNvCxnSpPr>
          <p:nvPr>
            <p:custDataLst>
              <p:tags r:id="rId3"/>
            </p:custDataLst>
          </p:nvPr>
        </p:nvCxnSpPr>
        <p:spPr>
          <a:xfrm>
            <a:off x="2388870" y="2421890"/>
            <a:ext cx="388493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4380865" y="1952625"/>
            <a:ext cx="957580" cy="248920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超时</a:t>
            </a:r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4380865" y="2582545"/>
            <a:ext cx="957580" cy="248920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错误</a:t>
            </a:r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871345" y="2642235"/>
            <a:ext cx="1196975" cy="2870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fallback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913765" y="3852545"/>
            <a:ext cx="8390255" cy="190500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l"/>
            <a:r>
              <a:rPr lang="zh-CN" altLang="en-US"/>
              <a:t>有熔断规则</a:t>
            </a:r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1287145" y="4598670"/>
            <a:ext cx="1101725" cy="554990"/>
          </a:xfrm>
          <a:prstGeom prst="rect">
            <a:avLst/>
          </a:prstGeom>
          <a:solidFill>
            <a:srgbClr val="00206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6273800" y="4598670"/>
            <a:ext cx="1101725" cy="554990"/>
          </a:xfrm>
          <a:prstGeom prst="rect">
            <a:avLst/>
          </a:prstGeom>
          <a:solidFill>
            <a:srgbClr val="00206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cxnSp>
        <p:nvCxnSpPr>
          <p:cNvPr id="14" name="直接箭头连接符 13"/>
          <p:cNvCxnSpPr>
            <a:stCxn id="12" idx="3"/>
            <a:endCxn id="13" idx="1"/>
          </p:cNvCxnSpPr>
          <p:nvPr>
            <p:custDataLst>
              <p:tags r:id="rId9"/>
            </p:custDataLst>
          </p:nvPr>
        </p:nvCxnSpPr>
        <p:spPr>
          <a:xfrm>
            <a:off x="2388870" y="4876165"/>
            <a:ext cx="388493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4380865" y="4406900"/>
            <a:ext cx="957580" cy="248920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超时</a:t>
            </a:r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4380865" y="5036820"/>
            <a:ext cx="957580" cy="248920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错误</a:t>
            </a:r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12"/>
            </p:custDataLst>
          </p:nvPr>
        </p:nvSpPr>
        <p:spPr>
          <a:xfrm>
            <a:off x="1871345" y="5096510"/>
            <a:ext cx="1196975" cy="2870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fallback</a:t>
            </a:r>
            <a:endParaRPr lang="en-US" altLang="zh-CN"/>
          </a:p>
        </p:txBody>
      </p:sp>
      <p:pic>
        <p:nvPicPr>
          <p:cNvPr id="18" name="图片 17" descr="错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68320" y="4598670"/>
            <a:ext cx="445770" cy="445770"/>
          </a:xfrm>
          <a:prstGeom prst="rect">
            <a:avLst/>
          </a:prstGeom>
        </p:spPr>
      </p:pic>
      <p:cxnSp>
        <p:nvCxnSpPr>
          <p:cNvPr id="19" name="肘形连接符 18"/>
          <p:cNvCxnSpPr>
            <a:stCxn id="18" idx="2"/>
            <a:endCxn id="17" idx="3"/>
          </p:cNvCxnSpPr>
          <p:nvPr>
            <p:custDataLst>
              <p:tags r:id="rId16"/>
            </p:custDataLst>
          </p:nvPr>
        </p:nvCxnSpPr>
        <p:spPr>
          <a:xfrm rot="5400000">
            <a:off x="3081655" y="5030470"/>
            <a:ext cx="195580" cy="222885"/>
          </a:xfrm>
          <a:prstGeom prst="bentConnector2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>
                <a:sym typeface="+mn-ea"/>
              </a:rPr>
              <a:t>热点参数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035" y="1267460"/>
            <a:ext cx="8542020" cy="25984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06195" y="4290060"/>
            <a:ext cx="94151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00"/>
                </a:solidFill>
              </a:rPr>
              <a:t>需求</a:t>
            </a:r>
            <a:r>
              <a:rPr lang="en-US" altLang="zh-CN">
                <a:solidFill>
                  <a:srgbClr val="FFC000"/>
                </a:solidFill>
              </a:rPr>
              <a:t>1</a:t>
            </a:r>
            <a:r>
              <a:rPr lang="zh-CN" altLang="en-US">
                <a:solidFill>
                  <a:srgbClr val="FFC000"/>
                </a:solidFill>
              </a:rPr>
              <a:t>：每个用户秒杀</a:t>
            </a:r>
            <a:r>
              <a:rPr lang="en-US" altLang="zh-CN">
                <a:solidFill>
                  <a:srgbClr val="FFC000"/>
                </a:solidFill>
              </a:rPr>
              <a:t> QPS </a:t>
            </a:r>
            <a:r>
              <a:rPr lang="zh-CN" altLang="en-US">
                <a:solidFill>
                  <a:srgbClr val="FFC000"/>
                </a:solidFill>
              </a:rPr>
              <a:t>不得超过</a:t>
            </a:r>
            <a:r>
              <a:rPr lang="en-US" altLang="zh-CN">
                <a:solidFill>
                  <a:srgbClr val="FFC000"/>
                </a:solidFill>
              </a:rPr>
              <a:t> 1</a:t>
            </a:r>
            <a:r>
              <a:rPr lang="zh-CN" altLang="en-US">
                <a:solidFill>
                  <a:srgbClr val="FFC000"/>
                </a:solidFill>
              </a:rPr>
              <a:t>（秒杀下单</a:t>
            </a:r>
            <a:r>
              <a:rPr lang="en-US" altLang="zh-CN">
                <a:solidFill>
                  <a:srgbClr val="FFC000"/>
                </a:solidFill>
              </a:rPr>
              <a:t> userId </a:t>
            </a:r>
            <a:r>
              <a:rPr lang="zh-CN" altLang="en-US">
                <a:solidFill>
                  <a:srgbClr val="FFC000"/>
                </a:solidFill>
              </a:rPr>
              <a:t>级别）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FFC000"/>
                </a:solidFill>
              </a:rPr>
              <a:t> </a:t>
            </a:r>
            <a:r>
              <a:rPr lang="en-US" altLang="zh-CN">
                <a:solidFill>
                  <a:srgbClr val="FFC000"/>
                </a:solidFill>
              </a:rPr>
              <a:t>    </a:t>
            </a:r>
            <a:r>
              <a:rPr lang="zh-CN" altLang="en-US">
                <a:solidFill>
                  <a:srgbClr val="FFC000"/>
                </a:solidFill>
              </a:rPr>
              <a:t>效果：携带此参数的参与流控，不携带不流控</a:t>
            </a:r>
            <a:endParaRPr lang="en-US" altLang="zh-CN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FFC000"/>
                </a:solidFill>
              </a:rPr>
              <a:t>需求</a:t>
            </a:r>
            <a:r>
              <a:rPr lang="en-US" altLang="zh-CN">
                <a:solidFill>
                  <a:srgbClr val="FFC000"/>
                </a:solidFill>
              </a:rPr>
              <a:t>2</a:t>
            </a:r>
            <a:r>
              <a:rPr lang="zh-CN" altLang="en-US">
                <a:solidFill>
                  <a:srgbClr val="FFC000"/>
                </a:solidFill>
              </a:rPr>
              <a:t>：</a:t>
            </a:r>
            <a:r>
              <a:rPr lang="en-US" altLang="zh-CN">
                <a:solidFill>
                  <a:srgbClr val="FFC000"/>
                </a:solidFill>
              </a:rPr>
              <a:t>6</a:t>
            </a:r>
            <a:r>
              <a:rPr lang="zh-CN" altLang="en-US">
                <a:solidFill>
                  <a:srgbClr val="FFC000"/>
                </a:solidFill>
              </a:rPr>
              <a:t>号用户是</a:t>
            </a:r>
            <a:r>
              <a:rPr lang="en-US" altLang="zh-CN">
                <a:solidFill>
                  <a:srgbClr val="FFC000"/>
                </a:solidFill>
              </a:rPr>
              <a:t>vvip</a:t>
            </a:r>
            <a:r>
              <a:rPr lang="zh-CN" altLang="en-US">
                <a:solidFill>
                  <a:srgbClr val="FFC000"/>
                </a:solidFill>
              </a:rPr>
              <a:t>，不限制</a:t>
            </a:r>
            <a:r>
              <a:rPr lang="en-US" altLang="zh-CN">
                <a:solidFill>
                  <a:srgbClr val="FFC000"/>
                </a:solidFill>
              </a:rPr>
              <a:t>QPS</a:t>
            </a:r>
            <a:r>
              <a:rPr lang="zh-CN" altLang="en-US">
                <a:solidFill>
                  <a:srgbClr val="FFC000"/>
                </a:solidFill>
              </a:rPr>
              <a:t>（例外情况）</a:t>
            </a:r>
            <a:endParaRPr lang="en-US" altLang="zh-CN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FFC000"/>
                </a:solidFill>
              </a:rPr>
              <a:t>需求</a:t>
            </a:r>
            <a:r>
              <a:rPr lang="en-US" altLang="zh-CN">
                <a:solidFill>
                  <a:srgbClr val="FFC000"/>
                </a:solidFill>
              </a:rPr>
              <a:t>3</a:t>
            </a:r>
            <a:r>
              <a:rPr lang="zh-CN" altLang="en-US">
                <a:solidFill>
                  <a:srgbClr val="FFC000"/>
                </a:solidFill>
              </a:rPr>
              <a:t>：</a:t>
            </a:r>
            <a:r>
              <a:rPr lang="en-US" altLang="zh-CN">
                <a:solidFill>
                  <a:srgbClr val="FFC000"/>
                </a:solidFill>
              </a:rPr>
              <a:t>666</a:t>
            </a:r>
            <a:r>
              <a:rPr lang="zh-CN" altLang="en-US">
                <a:solidFill>
                  <a:srgbClr val="FFC000"/>
                </a:solidFill>
              </a:rPr>
              <a:t>号是下架商品，不允许访问</a:t>
            </a:r>
            <a:endParaRPr lang="zh-CN" alt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规则</a:t>
            </a:r>
            <a:r>
              <a:rPr lang="en-US" altLang="zh-CN"/>
              <a:t> - </a:t>
            </a:r>
            <a:r>
              <a:rPr lang="zh-CN" altLang="en-US">
                <a:sym typeface="+mn-ea"/>
              </a:rPr>
              <a:t>热点参数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13080" y="1530350"/>
          <a:ext cx="11165840" cy="444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795"/>
                <a:gridCol w="5920740"/>
                <a:gridCol w="3202305"/>
              </a:tblGrid>
              <a:tr h="3784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属性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默认值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resource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资源名，必填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 anchor="ctr" anchorCtr="0"/>
                </a:tc>
              </a:tr>
              <a:tr h="378460"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count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限流阈值，必填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/>
                      <a:endParaRPr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grade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限流模式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QPS 模式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durationInSec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统计窗口时间长度（单位为秒），1.6.0 版本开始支持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1s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controlBehavior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流控效果（支持快速失败和匀速排队模式），1.6.0 版本开始支持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快速失败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maxQueueingTimeMs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最大排队等待时长（仅在匀速排队模式生效），1.6.0 版本开始支持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0ms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paramIdx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热点参数的索引，必填，对应 SphU.entry(xxx, args) 中的参数索引位置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paramFlowItemList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参数例外项，可以针对指定的参数值单独设置限流阈值，不受前面 count 阈值的限制。仅支持基本类型和字符串类型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clusterMode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是否是集群参数流控规则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false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</a:tr>
              <a:tr h="378460"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clusterConfig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400" b="0" i="0"/>
                        <a:t>集群流控相关配置</a:t>
                      </a:r>
                      <a:endParaRPr lang="zh-CN" altLang="en-US" sz="1400" b="0" i="0"/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5. Gateway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网关</a:t>
            </a:r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功能</a:t>
            </a:r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035" y="1090295"/>
            <a:ext cx="8616315" cy="557403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Spring Cloud Gateway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938020" y="2499360"/>
            <a:ext cx="3075940" cy="129286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ctr"/>
            <a:r>
              <a:rPr lang="en-US" altLang="zh-CN" sz="2000"/>
              <a:t>Spring Cloud Gateway</a:t>
            </a:r>
            <a:endParaRPr lang="en-US" altLang="zh-CN" sz="2000"/>
          </a:p>
        </p:txBody>
      </p:sp>
      <p:sp>
        <p:nvSpPr>
          <p:cNvPr id="6" name="矩形 5"/>
          <p:cNvSpPr/>
          <p:nvPr/>
        </p:nvSpPr>
        <p:spPr>
          <a:xfrm>
            <a:off x="2465705" y="3169285"/>
            <a:ext cx="1991995" cy="393065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Reactive Server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978015" y="2499360"/>
            <a:ext cx="3075940" cy="129286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ctr"/>
            <a:r>
              <a:rPr lang="en-US" altLang="zh-CN" sz="2000"/>
              <a:t>Spring Cloud Gateway</a:t>
            </a:r>
            <a:endParaRPr lang="en-US" altLang="zh-CN" sz="2000"/>
          </a:p>
        </p:txBody>
      </p:sp>
      <p:sp>
        <p:nvSpPr>
          <p:cNvPr id="8" name="矩形 7"/>
          <p:cNvSpPr/>
          <p:nvPr/>
        </p:nvSpPr>
        <p:spPr>
          <a:xfrm>
            <a:off x="7505700" y="3169285"/>
            <a:ext cx="1991995" cy="3930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Server MVC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3985895" y="4462145"/>
            <a:ext cx="3720465" cy="34353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 sz="2400"/>
              <a:t>org.springframework.cloud</a:t>
            </a:r>
            <a:endParaRPr lang="en-US" altLang="zh-CN" sz="2400"/>
          </a:p>
        </p:txBody>
      </p:sp>
      <p:sp>
        <p:nvSpPr>
          <p:cNvPr id="10" name="矩形 9"/>
          <p:cNvSpPr/>
          <p:nvPr/>
        </p:nvSpPr>
        <p:spPr>
          <a:xfrm>
            <a:off x="6762115" y="4805680"/>
            <a:ext cx="3507740" cy="5022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spring-cloud-starter-</a:t>
            </a:r>
            <a:r>
              <a:rPr lang="en-US" altLang="zh-CN">
                <a:solidFill>
                  <a:srgbClr val="FFC000"/>
                </a:solidFill>
              </a:rPr>
              <a:t>gateway-mvc</a:t>
            </a:r>
            <a:endParaRPr lang="en-US" altLang="zh-CN">
              <a:solidFill>
                <a:srgbClr val="FFC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98955" y="4805680"/>
            <a:ext cx="3507740" cy="50228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spring-cloud-starter-</a:t>
            </a:r>
            <a:r>
              <a:rPr lang="en-US" altLang="zh-CN">
                <a:solidFill>
                  <a:srgbClr val="FFC000"/>
                </a:solidFill>
              </a:rPr>
              <a:t>gateway</a:t>
            </a:r>
            <a:endParaRPr lang="en-US" altLang="zh-CN">
              <a:solidFill>
                <a:srgbClr val="FFC000"/>
              </a:solidFill>
            </a:endParaRPr>
          </a:p>
        </p:txBody>
      </p:sp>
      <p:cxnSp>
        <p:nvCxnSpPr>
          <p:cNvPr id="12" name="肘形连接符 11"/>
          <p:cNvCxnSpPr>
            <a:stCxn id="4" idx="2"/>
            <a:endCxn id="9" idx="0"/>
          </p:cNvCxnSpPr>
          <p:nvPr/>
        </p:nvCxnSpPr>
        <p:spPr>
          <a:xfrm rot="5400000" flipV="1">
            <a:off x="4326255" y="2941320"/>
            <a:ext cx="669925" cy="2370455"/>
          </a:xfrm>
          <a:prstGeom prst="bentConnector3">
            <a:avLst>
              <a:gd name="adj1" fmla="val 50047"/>
            </a:avLst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7" idx="2"/>
            <a:endCxn id="9" idx="0"/>
          </p:cNvCxnSpPr>
          <p:nvPr/>
        </p:nvCxnSpPr>
        <p:spPr>
          <a:xfrm rot="5400000">
            <a:off x="6846570" y="2792095"/>
            <a:ext cx="669925" cy="2669540"/>
          </a:xfrm>
          <a:prstGeom prst="bentConnector3">
            <a:avLst>
              <a:gd name="adj1" fmla="val 50000"/>
            </a:avLst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需求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客户端发送</a:t>
            </a:r>
            <a:r>
              <a:rPr lang="en-US" altLang="zh-CN"/>
              <a:t> </a:t>
            </a:r>
            <a:r>
              <a:rPr lang="en-US" altLang="zh-CN">
                <a:solidFill>
                  <a:srgbClr val="FFC000"/>
                </a:solidFill>
              </a:rPr>
              <a:t>/api/order/**</a:t>
            </a:r>
            <a:r>
              <a:rPr lang="en-US" altLang="zh-CN"/>
              <a:t> </a:t>
            </a:r>
            <a:r>
              <a:rPr lang="zh-CN" altLang="en-US"/>
              <a:t>转到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service-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order</a:t>
            </a:r>
            <a:endParaRPr lang="en-US" altLang="zh-CN">
              <a:solidFill>
                <a:srgbClr val="00B050"/>
              </a:solidFill>
              <a:sym typeface="+mn-ea"/>
            </a:endParaRPr>
          </a:p>
          <a:p>
            <a:r>
              <a:rPr lang="en-US" altLang="zh-CN"/>
              <a:t>2. </a:t>
            </a:r>
            <a:r>
              <a:rPr lang="zh-CN" altLang="en-US"/>
              <a:t>客户端发送</a:t>
            </a:r>
            <a:r>
              <a:rPr lang="en-US" altLang="zh-CN"/>
              <a:t> </a:t>
            </a:r>
            <a:r>
              <a:rPr lang="en-US" altLang="zh-CN">
                <a:solidFill>
                  <a:srgbClr val="FFC000"/>
                </a:solidFill>
              </a:rPr>
              <a:t>/api/product/**</a:t>
            </a:r>
            <a:r>
              <a:rPr lang="en-US" altLang="zh-CN"/>
              <a:t> </a:t>
            </a:r>
            <a:r>
              <a:rPr lang="zh-CN" altLang="en-US"/>
              <a:t>转到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service-product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/>
              <a:t>3. </a:t>
            </a:r>
            <a:r>
              <a:rPr lang="zh-CN" altLang="en-US"/>
              <a:t>以上转发有负载均衡效果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670050" y="4548505"/>
            <a:ext cx="900430" cy="53657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浏览器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119245" y="4237355"/>
            <a:ext cx="1811020" cy="115887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 sz="2400"/>
              <a:t>Gateway</a:t>
            </a:r>
            <a:endParaRPr lang="en-US" altLang="zh-CN" sz="2400"/>
          </a:p>
        </p:txBody>
      </p:sp>
      <p:sp>
        <p:nvSpPr>
          <p:cNvPr id="6" name="矩形 5"/>
          <p:cNvSpPr/>
          <p:nvPr/>
        </p:nvSpPr>
        <p:spPr>
          <a:xfrm>
            <a:off x="8425180" y="3700780"/>
            <a:ext cx="2002790" cy="53657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service-order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8425180" y="5312410"/>
            <a:ext cx="2002155" cy="53657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service-product</a:t>
            </a:r>
            <a:endParaRPr lang="en-US" altLang="zh-CN"/>
          </a:p>
        </p:txBody>
      </p:sp>
      <p:cxnSp>
        <p:nvCxnSpPr>
          <p:cNvPr id="8" name="直接箭头连接符 7"/>
          <p:cNvCxnSpPr>
            <a:stCxn id="4" idx="3"/>
            <a:endCxn id="5" idx="1"/>
          </p:cNvCxnSpPr>
          <p:nvPr/>
        </p:nvCxnSpPr>
        <p:spPr>
          <a:xfrm>
            <a:off x="2570480" y="4817110"/>
            <a:ext cx="1548765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stCxn id="5" idx="3"/>
            <a:endCxn id="6" idx="1"/>
          </p:cNvCxnSpPr>
          <p:nvPr/>
        </p:nvCxnSpPr>
        <p:spPr>
          <a:xfrm flipV="1">
            <a:off x="5930265" y="3969385"/>
            <a:ext cx="2494915" cy="847725"/>
          </a:xfrm>
          <a:prstGeom prst="bentConnector3">
            <a:avLst>
              <a:gd name="adj1" fmla="val 50013"/>
            </a:avLst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肘形连接符 9"/>
          <p:cNvCxnSpPr>
            <a:endCxn id="7" idx="1"/>
          </p:cNvCxnSpPr>
          <p:nvPr/>
        </p:nvCxnSpPr>
        <p:spPr>
          <a:xfrm>
            <a:off x="5922645" y="4807585"/>
            <a:ext cx="2502535" cy="773430"/>
          </a:xfrm>
          <a:prstGeom prst="bentConnector3">
            <a:avLst>
              <a:gd name="adj1" fmla="val 50013"/>
            </a:avLst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220460" y="3601085"/>
            <a:ext cx="1819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/api/order/**</a:t>
            </a:r>
            <a:endParaRPr lang="en-US" altLang="zh-CN">
              <a:solidFill>
                <a:srgbClr val="FFC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20460" y="5581015"/>
            <a:ext cx="1819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/api/product/**</a:t>
            </a:r>
            <a:endParaRPr lang="en-US" altLang="zh-CN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10299700" y="5784215"/>
            <a:ext cx="1524635" cy="709295"/>
          </a:xfrm>
          <a:prstGeom prst="rect">
            <a:avLst/>
          </a:prstGeom>
          <a:solidFill>
            <a:srgbClr val="00B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目的地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基础</a:t>
            </a:r>
            <a:r>
              <a:rPr lang="zh-CN" altLang="en-US"/>
              <a:t>原理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16150" y="1350010"/>
            <a:ext cx="7259955" cy="514350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ctr"/>
            <a:r>
              <a:rPr lang="en-US" altLang="zh-CN" b="1">
                <a:solidFill>
                  <a:srgbClr val="FFC000"/>
                </a:solidFill>
              </a:rPr>
              <a:t>Spring Cloud Gateway</a:t>
            </a:r>
            <a:endParaRPr lang="en-US" altLang="zh-CN" b="1">
              <a:solidFill>
                <a:srgbClr val="FFC000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607060" y="1675765"/>
            <a:ext cx="852805" cy="823595"/>
          </a:xfrm>
          <a:prstGeom prst="ellipse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请求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8" idx="6"/>
          </p:cNvCxnSpPr>
          <p:nvPr/>
        </p:nvCxnSpPr>
        <p:spPr>
          <a:xfrm flipV="1">
            <a:off x="1459865" y="2082800"/>
            <a:ext cx="756285" cy="508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2403475" y="1740535"/>
            <a:ext cx="2976880" cy="458724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2570480" y="1914525"/>
            <a:ext cx="2557780" cy="4266565"/>
            <a:chOff x="4048" y="3121"/>
            <a:chExt cx="4028" cy="6719"/>
          </a:xfrm>
        </p:grpSpPr>
        <p:sp>
          <p:nvSpPr>
            <p:cNvPr id="5" name="矩形 4"/>
            <p:cNvSpPr/>
            <p:nvPr/>
          </p:nvSpPr>
          <p:spPr>
            <a:xfrm>
              <a:off x="4048" y="3121"/>
              <a:ext cx="4028" cy="251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t" anchorCtr="0"/>
            <a:p>
              <a:pPr algn="ctr"/>
              <a:r>
                <a:rPr lang="en-US" altLang="zh-CN"/>
                <a:t>Route </a:t>
              </a:r>
              <a:r>
                <a:rPr lang="zh-CN" altLang="en-US"/>
                <a:t>路由</a:t>
              </a:r>
              <a:r>
                <a:rPr lang="zh-CN" altLang="en-US"/>
                <a:t>规则</a:t>
              </a: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4523" y="3799"/>
              <a:ext cx="3062" cy="513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p>
              <a:pPr algn="ctr"/>
              <a:r>
                <a:rPr lang="en-US" altLang="zh-CN"/>
                <a:t>Predicate </a:t>
              </a:r>
              <a:r>
                <a:rPr lang="zh-CN" altLang="en-US"/>
                <a:t>断言</a:t>
              </a: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4523" y="5037"/>
              <a:ext cx="3062" cy="513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p>
              <a:pPr algn="ctr"/>
              <a:r>
                <a:rPr lang="en-US" altLang="zh-CN"/>
                <a:t>Filter </a:t>
              </a:r>
              <a:r>
                <a:rPr lang="zh-CN" altLang="en-US"/>
                <a:t>过滤器</a:t>
              </a:r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4523" y="4418"/>
              <a:ext cx="3062" cy="513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p>
              <a:pPr algn="ctr"/>
              <a:r>
                <a:rPr lang="en-US" altLang="zh-CN"/>
                <a:t>URI </a:t>
              </a:r>
              <a:r>
                <a:rPr lang="zh-CN" altLang="en-US"/>
                <a:t>目的</a:t>
              </a:r>
              <a:r>
                <a:rPr lang="zh-CN" altLang="en-US"/>
                <a:t>地</a:t>
              </a:r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4048" y="6275"/>
              <a:ext cx="4028" cy="251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t" anchorCtr="0"/>
            <a:p>
              <a:pPr algn="ctr"/>
              <a:r>
                <a:rPr lang="en-US" altLang="zh-CN"/>
                <a:t>Route </a:t>
              </a:r>
              <a:r>
                <a:rPr lang="zh-CN" altLang="en-US"/>
                <a:t>路由</a:t>
              </a:r>
              <a:r>
                <a:rPr lang="zh-CN" altLang="en-US"/>
                <a:t>规则</a:t>
              </a: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4523" y="6953"/>
              <a:ext cx="3062" cy="513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p>
              <a:pPr algn="ctr"/>
              <a:r>
                <a:rPr lang="en-US" altLang="zh-CN"/>
                <a:t>Predicate </a:t>
              </a:r>
              <a:r>
                <a:rPr lang="zh-CN" altLang="en-US"/>
                <a:t>断言</a:t>
              </a:r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4523" y="8191"/>
              <a:ext cx="3062" cy="513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p>
              <a:pPr algn="ctr"/>
              <a:r>
                <a:rPr lang="en-US" altLang="zh-CN"/>
                <a:t>Filter </a:t>
              </a:r>
              <a:r>
                <a:rPr lang="zh-CN" altLang="en-US"/>
                <a:t>过滤器</a:t>
              </a:r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523" y="7572"/>
              <a:ext cx="3062" cy="513"/>
            </a:xfrm>
            <a:prstGeom prst="rect">
              <a:avLst/>
            </a:prstGeom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p>
              <a:pPr algn="ctr"/>
              <a:r>
                <a:rPr lang="en-US" altLang="zh-CN"/>
                <a:t>URI </a:t>
              </a:r>
              <a:r>
                <a:rPr lang="zh-CN" altLang="en-US"/>
                <a:t>目的</a:t>
              </a:r>
              <a:r>
                <a:rPr lang="zh-CN" altLang="en-US"/>
                <a:t>地</a:t>
              </a:r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048" y="9038"/>
              <a:ext cx="4028" cy="802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tailEnd type="none" w="med" len="me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p>
              <a:pPr algn="ctr"/>
              <a:r>
                <a:rPr lang="en-US" altLang="zh-CN"/>
                <a:t>Route </a:t>
              </a:r>
              <a:r>
                <a:rPr lang="zh-CN" altLang="en-US"/>
                <a:t>路由规则</a:t>
              </a:r>
              <a:r>
                <a:rPr lang="en-US" altLang="zh-CN"/>
                <a:t>......</a:t>
              </a:r>
              <a:endParaRPr lang="en-US" altLang="zh-CN"/>
            </a:p>
          </p:txBody>
        </p:sp>
      </p:grpSp>
      <p:sp>
        <p:nvSpPr>
          <p:cNvPr id="39" name="矩形 38"/>
          <p:cNvSpPr/>
          <p:nvPr/>
        </p:nvSpPr>
        <p:spPr>
          <a:xfrm>
            <a:off x="6323965" y="1740535"/>
            <a:ext cx="1925320" cy="536575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Gateway HandlerMapping</a:t>
            </a:r>
            <a:endParaRPr lang="en-US" altLang="zh-CN"/>
          </a:p>
        </p:txBody>
      </p:sp>
      <p:sp>
        <p:nvSpPr>
          <p:cNvPr id="40" name="矩形 39"/>
          <p:cNvSpPr/>
          <p:nvPr/>
        </p:nvSpPr>
        <p:spPr>
          <a:xfrm>
            <a:off x="6323965" y="2738120"/>
            <a:ext cx="1925320" cy="536575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Gateway WebHandler</a:t>
            </a:r>
            <a:endParaRPr lang="en-US" altLang="zh-CN"/>
          </a:p>
        </p:txBody>
      </p:sp>
      <p:cxnSp>
        <p:nvCxnSpPr>
          <p:cNvPr id="41" name="直接箭头连接符 40"/>
          <p:cNvCxnSpPr/>
          <p:nvPr/>
        </p:nvCxnSpPr>
        <p:spPr>
          <a:xfrm>
            <a:off x="6855460" y="2277110"/>
            <a:ext cx="0" cy="46101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6323965" y="3677285"/>
            <a:ext cx="1914525" cy="430530"/>
          </a:xfrm>
          <a:prstGeom prst="rect">
            <a:avLst/>
          </a:prstGeom>
          <a:solidFill>
            <a:srgbClr val="00206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Filter</a:t>
            </a:r>
            <a:endParaRPr lang="en-US" altLang="zh-CN"/>
          </a:p>
        </p:txBody>
      </p:sp>
      <p:sp>
        <p:nvSpPr>
          <p:cNvPr id="43" name="矩形 42"/>
          <p:cNvSpPr/>
          <p:nvPr/>
        </p:nvSpPr>
        <p:spPr>
          <a:xfrm>
            <a:off x="6323965" y="4515485"/>
            <a:ext cx="1914525" cy="430530"/>
          </a:xfrm>
          <a:prstGeom prst="rect">
            <a:avLst/>
          </a:prstGeom>
          <a:solidFill>
            <a:srgbClr val="00206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Filter</a:t>
            </a:r>
            <a:endParaRPr lang="en-US" altLang="zh-CN"/>
          </a:p>
        </p:txBody>
      </p:sp>
      <p:sp>
        <p:nvSpPr>
          <p:cNvPr id="44" name="矩形 43"/>
          <p:cNvSpPr/>
          <p:nvPr/>
        </p:nvSpPr>
        <p:spPr>
          <a:xfrm>
            <a:off x="6323965" y="5353685"/>
            <a:ext cx="1914525" cy="430530"/>
          </a:xfrm>
          <a:prstGeom prst="rect">
            <a:avLst/>
          </a:prstGeom>
          <a:solidFill>
            <a:srgbClr val="00206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Filter</a:t>
            </a:r>
            <a:endParaRPr lang="en-US" altLang="zh-CN"/>
          </a:p>
        </p:txBody>
      </p:sp>
      <p:cxnSp>
        <p:nvCxnSpPr>
          <p:cNvPr id="45" name="直接箭头连接符 44"/>
          <p:cNvCxnSpPr/>
          <p:nvPr/>
        </p:nvCxnSpPr>
        <p:spPr>
          <a:xfrm flipH="1">
            <a:off x="6601460" y="3274695"/>
            <a:ext cx="153035" cy="39306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6572885" y="4117975"/>
            <a:ext cx="9525" cy="36385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6553835" y="4951095"/>
            <a:ext cx="9525" cy="37338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6697345" y="5774690"/>
            <a:ext cx="3591560" cy="52705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endCxn id="44" idx="3"/>
          </p:cNvCxnSpPr>
          <p:nvPr/>
        </p:nvCxnSpPr>
        <p:spPr>
          <a:xfrm flipH="1" flipV="1">
            <a:off x="8238490" y="5568950"/>
            <a:ext cx="2069465" cy="37846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 flipV="1">
            <a:off x="7846695" y="4970145"/>
            <a:ext cx="9525" cy="35433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V="1">
            <a:off x="7846695" y="4137025"/>
            <a:ext cx="0" cy="36385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 flipV="1">
            <a:off x="7722235" y="3274695"/>
            <a:ext cx="133985" cy="40259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7616825" y="2288540"/>
            <a:ext cx="9525" cy="42100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endCxn id="39" idx="1"/>
          </p:cNvCxnSpPr>
          <p:nvPr/>
        </p:nvCxnSpPr>
        <p:spPr>
          <a:xfrm>
            <a:off x="5423535" y="2000885"/>
            <a:ext cx="900430" cy="825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5" name="椭圆 54"/>
          <p:cNvSpPr/>
          <p:nvPr/>
        </p:nvSpPr>
        <p:spPr>
          <a:xfrm>
            <a:off x="607060" y="4481830"/>
            <a:ext cx="852805" cy="823595"/>
          </a:xfrm>
          <a:prstGeom prst="ellipse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响应</a:t>
            </a:r>
            <a:endParaRPr lang="zh-CN" altLang="en-US"/>
          </a:p>
        </p:txBody>
      </p:sp>
      <p:cxnSp>
        <p:nvCxnSpPr>
          <p:cNvPr id="56" name="直接箭头连接符 55"/>
          <p:cNvCxnSpPr>
            <a:endCxn id="55" idx="6"/>
          </p:cNvCxnSpPr>
          <p:nvPr/>
        </p:nvCxnSpPr>
        <p:spPr>
          <a:xfrm flipH="1" flipV="1">
            <a:off x="1459865" y="4893945"/>
            <a:ext cx="755015" cy="5715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Predicate - </a:t>
            </a:r>
            <a:r>
              <a:rPr lang="zh-CN" altLang="en-US">
                <a:sym typeface="+mn-ea"/>
              </a:rPr>
              <a:t>断言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85" y="1273175"/>
            <a:ext cx="4557395" cy="24237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642110" y="3321685"/>
            <a:ext cx="689610" cy="307340"/>
          </a:xfrm>
          <a:prstGeom prst="rect">
            <a:avLst/>
          </a:prstGeom>
          <a:noFill/>
          <a:ln w="38100">
            <a:solidFill>
              <a:srgbClr val="FF0000"/>
            </a:solidFill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92125" y="4395470"/>
            <a:ext cx="2999105" cy="72771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Route Predicate Factory Name</a:t>
            </a:r>
            <a:endParaRPr lang="en-US" altLang="zh-CN"/>
          </a:p>
          <a:p>
            <a:pPr algn="ctr"/>
            <a:r>
              <a:rPr lang="zh-CN" altLang="en-US"/>
              <a:t>路由断言工</a:t>
            </a:r>
            <a:r>
              <a:rPr lang="zh-CN" altLang="en-US"/>
              <a:t>厂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7" idx="0"/>
            <a:endCxn id="6" idx="2"/>
          </p:cNvCxnSpPr>
          <p:nvPr/>
        </p:nvCxnSpPr>
        <p:spPr>
          <a:xfrm flipH="1" flipV="1">
            <a:off x="1986915" y="3629025"/>
            <a:ext cx="5080" cy="766445"/>
          </a:xfrm>
          <a:prstGeom prst="straightConnector1">
            <a:avLst/>
          </a:prstGeom>
          <a:ln w="28575" cap="rnd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458085" y="5604510"/>
            <a:ext cx="2203450" cy="72771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Params</a:t>
            </a:r>
            <a:endParaRPr lang="en-US" altLang="zh-CN"/>
          </a:p>
          <a:p>
            <a:pPr algn="ctr"/>
            <a:r>
              <a:rPr lang="zh-CN" altLang="en-US"/>
              <a:t>参数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420620" y="3321685"/>
            <a:ext cx="2298065" cy="307340"/>
          </a:xfrm>
          <a:prstGeom prst="rect">
            <a:avLst/>
          </a:prstGeom>
          <a:noFill/>
          <a:ln w="38100">
            <a:solidFill>
              <a:srgbClr val="FF0000"/>
            </a:solidFill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endParaRPr lang="zh-CN" altLang="en-US"/>
          </a:p>
        </p:txBody>
      </p:sp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5325745" y="1273175"/>
          <a:ext cx="6650990" cy="501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495"/>
                <a:gridCol w="1774190"/>
                <a:gridCol w="3583305"/>
              </a:tblGrid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参数（个数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类型）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作用</a:t>
                      </a:r>
                      <a:endParaRPr lang="zh-CN" altLang="en-US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After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1/datetime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在指定时间之后</a:t>
                      </a:r>
                      <a:endParaRPr lang="zh-CN" altLang="en-US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Before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1/datetime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在指定时间之</a:t>
                      </a:r>
                      <a:r>
                        <a:rPr lang="zh-CN" altLang="en-US" sz="1600">
                          <a:sym typeface="+mn-ea"/>
                        </a:rPr>
                        <a:t>前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Between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</a:t>
                      </a:r>
                      <a:r>
                        <a:rPr lang="en-US" altLang="zh-CN" sz="1600"/>
                        <a:t>datetime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在指定时间区间</a:t>
                      </a:r>
                      <a:r>
                        <a:rPr lang="zh-CN" altLang="en-US" sz="1600">
                          <a:sym typeface="+mn-ea"/>
                        </a:rPr>
                        <a:t>内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Cookie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2/string,regexp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包含</a:t>
                      </a:r>
                      <a:r>
                        <a:rPr lang="en-US" altLang="zh-CN" sz="1600"/>
                        <a:t>cookie</a:t>
                      </a:r>
                      <a:r>
                        <a:rPr lang="zh-CN" altLang="en-US" sz="1600"/>
                        <a:t>名</a:t>
                      </a:r>
                      <a:r>
                        <a:rPr lang="zh-CN" altLang="en-US" sz="1600"/>
                        <a:t>且必须</a:t>
                      </a:r>
                      <a:r>
                        <a:rPr lang="zh-CN" altLang="en-US" sz="1600"/>
                        <a:t>匹配指定</a:t>
                      </a:r>
                      <a:r>
                        <a:rPr lang="zh-CN" altLang="en-US" sz="1600"/>
                        <a:t>值</a:t>
                      </a:r>
                      <a:endParaRPr lang="zh-CN" altLang="en-US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Header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2/string,regexp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包含请求头且必须匹配指定</a:t>
                      </a:r>
                      <a:r>
                        <a:rPr lang="zh-CN" altLang="en-US" sz="1600"/>
                        <a:t>值</a:t>
                      </a:r>
                      <a:endParaRPr lang="zh-CN" altLang="en-US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Host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N/string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请求</a:t>
                      </a:r>
                      <a:r>
                        <a:rPr lang="en-US" altLang="zh-CN" sz="1600"/>
                        <a:t>host</a:t>
                      </a:r>
                      <a:r>
                        <a:rPr lang="zh-CN" altLang="en-US" sz="1600"/>
                        <a:t>必须是指定</a:t>
                      </a:r>
                      <a:r>
                        <a:rPr lang="zh-CN" altLang="en-US" sz="1600"/>
                        <a:t>枚举值</a:t>
                      </a:r>
                      <a:endParaRPr lang="zh-CN" altLang="en-US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Method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N/string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请求</a:t>
                      </a:r>
                      <a:r>
                        <a:rPr lang="zh-CN" altLang="en-US" sz="1600"/>
                        <a:t>方式必须是指定枚举值</a:t>
                      </a:r>
                      <a:endParaRPr lang="zh-CN" altLang="en-US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Path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2/List&lt;String&gt;,bool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请求路径满足规则，是否匹配最后的</a:t>
                      </a:r>
                      <a:r>
                        <a:rPr lang="en-US" altLang="zh-CN" sz="1600"/>
                        <a:t>/</a:t>
                      </a:r>
                      <a:endParaRPr lang="en-US" altLang="zh-CN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Query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2/string,regexp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包含指定请求参数</a:t>
                      </a:r>
                      <a:endParaRPr lang="zh-CN" altLang="en-US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RemoteAddr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1/List&lt;String&gt;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请求来源于指定网络域</a:t>
                      </a:r>
                      <a:r>
                        <a:rPr lang="en-US" altLang="zh-CN" sz="1600"/>
                        <a:t>(CIDR</a:t>
                      </a:r>
                      <a:r>
                        <a:rPr lang="zh-CN" altLang="en-US" sz="1600"/>
                        <a:t>写法</a:t>
                      </a:r>
                      <a:r>
                        <a:rPr lang="en-US" altLang="zh-CN" sz="1600"/>
                        <a:t>)</a:t>
                      </a:r>
                      <a:endParaRPr lang="en-US" altLang="zh-CN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Weight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2/string,int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按指定权重负载均衡</a:t>
                      </a:r>
                      <a:endParaRPr lang="zh-CN" altLang="en-US" sz="1600"/>
                    </a:p>
                  </a:txBody>
                  <a:tcPr/>
                </a:tc>
              </a:tr>
              <a:tr h="386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XForwarded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r>
                        <a:rPr lang="en-US" altLang="zh-CN" sz="1600"/>
                        <a:t>RemoteAddr 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1/List&lt;string&gt;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从</a:t>
                      </a:r>
                      <a:r>
                        <a:rPr lang="en-US" altLang="zh-CN" sz="1600"/>
                        <a:t>X-Forwarded-For</a:t>
                      </a:r>
                      <a:r>
                        <a:rPr lang="zh-CN" altLang="en-US" sz="1600"/>
                        <a:t>请求头中解析请求来源，并判断是否来源于指定网络域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3" name="直接箭头连接符 12"/>
          <p:cNvCxnSpPr>
            <a:stCxn id="9" idx="0"/>
            <a:endCxn id="10" idx="2"/>
          </p:cNvCxnSpPr>
          <p:nvPr/>
        </p:nvCxnSpPr>
        <p:spPr>
          <a:xfrm flipV="1">
            <a:off x="3559810" y="3629025"/>
            <a:ext cx="10160" cy="1975485"/>
          </a:xfrm>
          <a:prstGeom prst="straightConnector1">
            <a:avLst/>
          </a:prstGeom>
          <a:ln w="28575" cap="rnd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Filter - </a:t>
            </a:r>
            <a:r>
              <a:rPr lang="zh-CN" altLang="en-US"/>
              <a:t>过滤器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341120"/>
            <a:ext cx="5140960" cy="24415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85620" y="3321685"/>
            <a:ext cx="1569720" cy="307340"/>
          </a:xfrm>
          <a:prstGeom prst="rect">
            <a:avLst/>
          </a:prstGeom>
          <a:noFill/>
          <a:ln w="38100">
            <a:solidFill>
              <a:srgbClr val="FF0000"/>
            </a:solidFill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445510" y="3321685"/>
            <a:ext cx="1982470" cy="307340"/>
          </a:xfrm>
          <a:prstGeom prst="rect">
            <a:avLst/>
          </a:prstGeom>
          <a:noFill/>
          <a:ln w="38100">
            <a:solidFill>
              <a:srgbClr val="FF0000"/>
            </a:solidFill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75030" y="4395470"/>
            <a:ext cx="3401060" cy="72771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/>
              <a:t>Gateway Filter Factory Name</a:t>
            </a:r>
            <a:endParaRPr lang="en-US"/>
          </a:p>
          <a:p>
            <a:pPr algn="ctr"/>
            <a:r>
              <a:rPr lang="zh-CN" altLang="en-US"/>
              <a:t>网关过滤器工厂名字</a:t>
            </a:r>
            <a:endParaRPr lang="zh-CN" altLang="en-US"/>
          </a:p>
        </p:txBody>
      </p:sp>
      <p:cxnSp>
        <p:nvCxnSpPr>
          <p:cNvPr id="5" name="直接箭头连接符 4"/>
          <p:cNvCxnSpPr>
            <a:stCxn id="7" idx="0"/>
            <a:endCxn id="6" idx="2"/>
          </p:cNvCxnSpPr>
          <p:nvPr/>
        </p:nvCxnSpPr>
        <p:spPr>
          <a:xfrm flipH="1" flipV="1">
            <a:off x="2570480" y="3629025"/>
            <a:ext cx="5080" cy="766445"/>
          </a:xfrm>
          <a:prstGeom prst="straightConnector1">
            <a:avLst/>
          </a:prstGeom>
          <a:ln w="28575" cap="rnd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697605" y="5604510"/>
            <a:ext cx="1478915" cy="72771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Params</a:t>
            </a:r>
            <a:endParaRPr lang="en-US" altLang="zh-CN"/>
          </a:p>
          <a:p>
            <a:pPr algn="ctr"/>
            <a:r>
              <a:rPr lang="zh-CN" altLang="en-US"/>
              <a:t>参数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9" idx="0"/>
            <a:endCxn id="10" idx="2"/>
          </p:cNvCxnSpPr>
          <p:nvPr/>
        </p:nvCxnSpPr>
        <p:spPr>
          <a:xfrm flipH="1" flipV="1">
            <a:off x="4436745" y="3629025"/>
            <a:ext cx="635" cy="1975485"/>
          </a:xfrm>
          <a:prstGeom prst="straightConnector1">
            <a:avLst/>
          </a:prstGeom>
          <a:ln w="28575" cap="rnd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820025" y="981075"/>
            <a:ext cx="1139190" cy="488950"/>
          </a:xfrm>
          <a:prstGeom prst="rect">
            <a:avLst/>
          </a:prstGeom>
          <a:solidFill>
            <a:srgbClr val="7030A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请求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603740" y="981075"/>
            <a:ext cx="1139190" cy="488950"/>
          </a:xfrm>
          <a:prstGeom prst="rect">
            <a:avLst/>
          </a:prstGeom>
          <a:solidFill>
            <a:srgbClr val="92D05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响应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820025" y="2132965"/>
            <a:ext cx="2923540" cy="4889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Filter1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7820025" y="3064510"/>
            <a:ext cx="2923540" cy="4889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Filter2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7819390" y="4504055"/>
            <a:ext cx="2923540" cy="4889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FilterN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8463915" y="5943600"/>
            <a:ext cx="1636395" cy="488950"/>
          </a:xfrm>
          <a:prstGeom prst="rect">
            <a:avLst/>
          </a:prstGeom>
          <a:solidFill>
            <a:srgbClr val="0070C0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目的地</a:t>
            </a:r>
            <a:endParaRPr lang="zh-CN" altLang="en-US"/>
          </a:p>
        </p:txBody>
      </p:sp>
      <p:cxnSp>
        <p:nvCxnSpPr>
          <p:cNvPr id="19" name="直接箭头连接符 18"/>
          <p:cNvCxnSpPr>
            <a:stCxn id="13" idx="2"/>
          </p:cNvCxnSpPr>
          <p:nvPr/>
        </p:nvCxnSpPr>
        <p:spPr>
          <a:xfrm>
            <a:off x="8389620" y="1470025"/>
            <a:ext cx="4445" cy="67437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8355330" y="2613660"/>
            <a:ext cx="9525" cy="44069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8364855" y="3581400"/>
            <a:ext cx="0" cy="91948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8326755" y="4970145"/>
            <a:ext cx="680085" cy="94805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9581515" y="4998720"/>
            <a:ext cx="431165" cy="90043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001000" y="2249805"/>
            <a:ext cx="699135" cy="2489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600"/>
              <a:t>前置</a:t>
            </a:r>
            <a:endParaRPr lang="zh-CN" altLang="en-US" sz="1600"/>
          </a:p>
        </p:txBody>
      </p:sp>
      <p:sp>
        <p:nvSpPr>
          <p:cNvPr id="25" name="矩形 24"/>
          <p:cNvSpPr/>
          <p:nvPr/>
        </p:nvSpPr>
        <p:spPr>
          <a:xfrm>
            <a:off x="9823450" y="2249805"/>
            <a:ext cx="699135" cy="2489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600"/>
              <a:t>后置</a:t>
            </a:r>
            <a:endParaRPr lang="zh-CN" altLang="en-US" sz="1600"/>
          </a:p>
        </p:txBody>
      </p:sp>
      <p:sp>
        <p:nvSpPr>
          <p:cNvPr id="26" name="矩形 25"/>
          <p:cNvSpPr/>
          <p:nvPr/>
        </p:nvSpPr>
        <p:spPr>
          <a:xfrm>
            <a:off x="8001000" y="3184525"/>
            <a:ext cx="699135" cy="2489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600"/>
              <a:t>前置</a:t>
            </a:r>
            <a:endParaRPr lang="zh-CN" altLang="en-US" sz="1600"/>
          </a:p>
        </p:txBody>
      </p:sp>
      <p:sp>
        <p:nvSpPr>
          <p:cNvPr id="27" name="矩形 26"/>
          <p:cNvSpPr/>
          <p:nvPr/>
        </p:nvSpPr>
        <p:spPr>
          <a:xfrm>
            <a:off x="9823450" y="3184525"/>
            <a:ext cx="699135" cy="2489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600"/>
              <a:t>后置</a:t>
            </a:r>
            <a:endParaRPr lang="zh-CN" altLang="en-US" sz="1600"/>
          </a:p>
        </p:txBody>
      </p:sp>
      <p:sp>
        <p:nvSpPr>
          <p:cNvPr id="29" name="矩形 28"/>
          <p:cNvSpPr/>
          <p:nvPr/>
        </p:nvSpPr>
        <p:spPr>
          <a:xfrm>
            <a:off x="8001000" y="4627245"/>
            <a:ext cx="699135" cy="2489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600"/>
              <a:t>前置</a:t>
            </a:r>
            <a:endParaRPr lang="zh-CN" altLang="en-US" sz="1600"/>
          </a:p>
        </p:txBody>
      </p:sp>
      <p:sp>
        <p:nvSpPr>
          <p:cNvPr id="30" name="矩形 29"/>
          <p:cNvSpPr/>
          <p:nvPr/>
        </p:nvSpPr>
        <p:spPr>
          <a:xfrm>
            <a:off x="9823450" y="4627245"/>
            <a:ext cx="699135" cy="24892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sz="1600"/>
              <a:t>后置</a:t>
            </a:r>
            <a:endParaRPr lang="zh-CN" altLang="en-US" sz="1600"/>
          </a:p>
        </p:txBody>
      </p:sp>
      <p:cxnSp>
        <p:nvCxnSpPr>
          <p:cNvPr id="31" name="直接箭头连接符 30"/>
          <p:cNvCxnSpPr/>
          <p:nvPr/>
        </p:nvCxnSpPr>
        <p:spPr>
          <a:xfrm flipH="1" flipV="1">
            <a:off x="10203815" y="3561715"/>
            <a:ext cx="9525" cy="90995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 flipV="1">
            <a:off x="10175240" y="2623185"/>
            <a:ext cx="9525" cy="38354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14" idx="2"/>
          </p:cNvCxnSpPr>
          <p:nvPr/>
        </p:nvCxnSpPr>
        <p:spPr>
          <a:xfrm flipH="1" flipV="1">
            <a:off x="10173335" y="1470025"/>
            <a:ext cx="11430" cy="65532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路径重写</a:t>
            </a:r>
            <a:r>
              <a:rPr lang="en-US" altLang="zh-CN"/>
              <a:t> - rewirtePath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287780" y="2211705"/>
            <a:ext cx="2489835" cy="5651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 b="1">
                <a:solidFill>
                  <a:srgbClr val="FFC000"/>
                </a:solidFill>
              </a:rPr>
              <a:t>/api/order</a:t>
            </a:r>
            <a:r>
              <a:rPr lang="en-US" altLang="zh-CN">
                <a:solidFill>
                  <a:srgbClr val="00B050"/>
                </a:solidFill>
              </a:rPr>
              <a:t>/readDb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15255" y="2211705"/>
            <a:ext cx="1512570" cy="5651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网关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615680" y="3864610"/>
            <a:ext cx="1819275" cy="5651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目的地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4" idx="3"/>
            <a:endCxn id="7" idx="1"/>
          </p:cNvCxnSpPr>
          <p:nvPr/>
        </p:nvCxnSpPr>
        <p:spPr>
          <a:xfrm>
            <a:off x="3777615" y="2494280"/>
            <a:ext cx="1437640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215255" y="3864610"/>
            <a:ext cx="1512570" cy="5651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>
                <a:solidFill>
                  <a:srgbClr val="00B050"/>
                </a:solidFill>
              </a:rPr>
              <a:t>/readDb</a:t>
            </a:r>
            <a:endParaRPr lang="en-US" altLang="zh-CN">
              <a:solidFill>
                <a:srgbClr val="00B050"/>
              </a:solidFill>
            </a:endParaRPr>
          </a:p>
        </p:txBody>
      </p:sp>
      <p:cxnSp>
        <p:nvCxnSpPr>
          <p:cNvPr id="13" name="直接箭头连接符 12"/>
          <p:cNvCxnSpPr>
            <a:stCxn id="7" idx="2"/>
            <a:endCxn id="10" idx="0"/>
          </p:cNvCxnSpPr>
          <p:nvPr/>
        </p:nvCxnSpPr>
        <p:spPr>
          <a:xfrm>
            <a:off x="5971540" y="2776855"/>
            <a:ext cx="0" cy="108775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076315" y="3169285"/>
            <a:ext cx="1372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00"/>
                </a:solidFill>
              </a:rPr>
              <a:t>路径重写</a:t>
            </a:r>
            <a:endParaRPr lang="zh-CN" altLang="en-US">
              <a:solidFill>
                <a:srgbClr val="FFC000"/>
              </a:solidFill>
            </a:endParaRPr>
          </a:p>
        </p:txBody>
      </p:sp>
      <p:cxnSp>
        <p:nvCxnSpPr>
          <p:cNvPr id="15" name="直接箭头连接符 14"/>
          <p:cNvCxnSpPr>
            <a:stCxn id="10" idx="3"/>
            <a:endCxn id="8" idx="1"/>
          </p:cNvCxnSpPr>
          <p:nvPr/>
        </p:nvCxnSpPr>
        <p:spPr>
          <a:xfrm>
            <a:off x="6727825" y="4147185"/>
            <a:ext cx="1887855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769350" y="5246370"/>
            <a:ext cx="1512570" cy="56515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>
                <a:solidFill>
                  <a:schemeClr val="bg1"/>
                </a:solidFill>
              </a:rPr>
              <a:t>controller</a:t>
            </a:r>
            <a:endParaRPr lang="en-US" altLang="zh-CN">
              <a:solidFill>
                <a:schemeClr val="bg1"/>
              </a:solidFill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</a:rPr>
              <a:t>/readDb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7" name="直接箭头连接符 16"/>
          <p:cNvCxnSpPr>
            <a:stCxn id="8" idx="2"/>
            <a:endCxn id="16" idx="0"/>
          </p:cNvCxnSpPr>
          <p:nvPr/>
        </p:nvCxnSpPr>
        <p:spPr>
          <a:xfrm>
            <a:off x="9525635" y="4429760"/>
            <a:ext cx="0" cy="81661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面试题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微服务之间的调用经过网关吗？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68095" y="3724910"/>
            <a:ext cx="1475105" cy="5937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/create</a:t>
            </a:r>
            <a:endParaRPr lang="en-US" altLang="zh-CN"/>
          </a:p>
          <a:p>
            <a:pPr algn="ctr"/>
            <a:r>
              <a:rPr lang="en-US" altLang="zh-CN"/>
              <a:t>service-order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146165" y="3724910"/>
            <a:ext cx="2317115" cy="5937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获取商品</a:t>
            </a:r>
            <a:endParaRPr lang="en-US" altLang="zh-CN"/>
          </a:p>
          <a:p>
            <a:pPr algn="ctr"/>
            <a:r>
              <a:rPr lang="en-US" altLang="zh-CN"/>
              <a:t>service-product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3837940" y="2707640"/>
            <a:ext cx="1475105" cy="5937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注册中心</a:t>
            </a:r>
            <a:endParaRPr lang="zh-CN" altLang="en-US"/>
          </a:p>
        </p:txBody>
      </p:sp>
      <p:cxnSp>
        <p:nvCxnSpPr>
          <p:cNvPr id="7" name="直接箭头连接符 6"/>
          <p:cNvCxnSpPr>
            <a:stCxn id="4" idx="0"/>
            <a:endCxn id="6" idx="1"/>
          </p:cNvCxnSpPr>
          <p:nvPr/>
        </p:nvCxnSpPr>
        <p:spPr>
          <a:xfrm flipV="1">
            <a:off x="2005965" y="3004820"/>
            <a:ext cx="1831975" cy="72009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3"/>
            <a:endCxn id="5" idx="1"/>
          </p:cNvCxnSpPr>
          <p:nvPr/>
        </p:nvCxnSpPr>
        <p:spPr>
          <a:xfrm>
            <a:off x="2743200" y="4022090"/>
            <a:ext cx="3402965" cy="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707130" y="5097145"/>
            <a:ext cx="1475105" cy="59372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gateway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4" idx="2"/>
            <a:endCxn id="9" idx="1"/>
          </p:cNvCxnSpPr>
          <p:nvPr/>
        </p:nvCxnSpPr>
        <p:spPr>
          <a:xfrm>
            <a:off x="2005965" y="4318635"/>
            <a:ext cx="1701165" cy="107569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9" idx="3"/>
            <a:endCxn id="5" idx="2"/>
          </p:cNvCxnSpPr>
          <p:nvPr/>
        </p:nvCxnSpPr>
        <p:spPr>
          <a:xfrm flipV="1">
            <a:off x="5182235" y="4318635"/>
            <a:ext cx="2122805" cy="107569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6. Seata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分布式事务</a:t>
            </a:r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产生原因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55" y="1600835"/>
            <a:ext cx="5958205" cy="44691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206615" y="3312795"/>
            <a:ext cx="1043940" cy="54610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订单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828405" y="3312795"/>
            <a:ext cx="1043940" cy="54610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库存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450195" y="3312795"/>
            <a:ext cx="1043940" cy="54610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账户</a:t>
            </a:r>
            <a:endParaRPr lang="zh-CN" altLang="en-US"/>
          </a:p>
        </p:txBody>
      </p:sp>
      <p:sp>
        <p:nvSpPr>
          <p:cNvPr id="8" name="圆柱形 7"/>
          <p:cNvSpPr/>
          <p:nvPr/>
        </p:nvSpPr>
        <p:spPr>
          <a:xfrm>
            <a:off x="7340600" y="4940935"/>
            <a:ext cx="775970" cy="785495"/>
          </a:xfrm>
          <a:prstGeom prst="can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 sz="1400"/>
              <a:t>order</a:t>
            </a:r>
            <a:endParaRPr lang="en-US" altLang="zh-CN" sz="1400"/>
          </a:p>
          <a:p>
            <a:pPr algn="ctr"/>
            <a:r>
              <a:rPr lang="en-US" altLang="zh-CN" sz="1400"/>
              <a:t>db</a:t>
            </a:r>
            <a:endParaRPr lang="en-US" altLang="zh-CN" sz="1400"/>
          </a:p>
        </p:txBody>
      </p:sp>
      <p:cxnSp>
        <p:nvCxnSpPr>
          <p:cNvPr id="9" name="直接箭头连接符 8"/>
          <p:cNvCxnSpPr>
            <a:stCxn id="5" idx="2"/>
            <a:endCxn id="8" idx="1"/>
          </p:cNvCxnSpPr>
          <p:nvPr/>
        </p:nvCxnSpPr>
        <p:spPr>
          <a:xfrm>
            <a:off x="7728585" y="3858895"/>
            <a:ext cx="0" cy="108204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圆柱形 9"/>
          <p:cNvSpPr/>
          <p:nvPr/>
        </p:nvSpPr>
        <p:spPr>
          <a:xfrm>
            <a:off x="8962390" y="4940935"/>
            <a:ext cx="775970" cy="785495"/>
          </a:xfrm>
          <a:prstGeom prst="can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 sz="1400"/>
              <a:t>storage</a:t>
            </a:r>
            <a:endParaRPr lang="en-US" altLang="zh-CN" sz="1400"/>
          </a:p>
          <a:p>
            <a:pPr algn="ctr"/>
            <a:r>
              <a:rPr lang="en-US" altLang="zh-CN" sz="1400"/>
              <a:t>db</a:t>
            </a:r>
            <a:endParaRPr lang="en-US" altLang="zh-CN" sz="1400"/>
          </a:p>
        </p:txBody>
      </p:sp>
      <p:sp>
        <p:nvSpPr>
          <p:cNvPr id="11" name="圆柱形 10"/>
          <p:cNvSpPr/>
          <p:nvPr/>
        </p:nvSpPr>
        <p:spPr>
          <a:xfrm>
            <a:off x="10584180" y="4940935"/>
            <a:ext cx="775970" cy="785495"/>
          </a:xfrm>
          <a:prstGeom prst="can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 sz="1400"/>
              <a:t>account</a:t>
            </a:r>
            <a:endParaRPr lang="en-US" altLang="zh-CN" sz="1400"/>
          </a:p>
          <a:p>
            <a:pPr algn="ctr"/>
            <a:r>
              <a:rPr lang="en-US" altLang="zh-CN" sz="1400"/>
              <a:t>db</a:t>
            </a:r>
            <a:endParaRPr lang="en-US" altLang="zh-CN" sz="1400"/>
          </a:p>
        </p:txBody>
      </p:sp>
      <p:cxnSp>
        <p:nvCxnSpPr>
          <p:cNvPr id="12" name="直接箭头连接符 11"/>
          <p:cNvCxnSpPr>
            <a:stCxn id="6" idx="2"/>
            <a:endCxn id="10" idx="1"/>
          </p:cNvCxnSpPr>
          <p:nvPr/>
        </p:nvCxnSpPr>
        <p:spPr>
          <a:xfrm>
            <a:off x="9350375" y="3858895"/>
            <a:ext cx="0" cy="108204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7" idx="2"/>
            <a:endCxn id="11" idx="1"/>
          </p:cNvCxnSpPr>
          <p:nvPr/>
        </p:nvCxnSpPr>
        <p:spPr>
          <a:xfrm>
            <a:off x="10972165" y="3858895"/>
            <a:ext cx="0" cy="108204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713470" y="1600835"/>
            <a:ext cx="1245235" cy="50736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购买</a:t>
            </a:r>
            <a:endParaRPr lang="zh-CN" altLang="en-US"/>
          </a:p>
        </p:txBody>
      </p:sp>
      <p:cxnSp>
        <p:nvCxnSpPr>
          <p:cNvPr id="15" name="直接箭头连接符 14"/>
          <p:cNvCxnSpPr>
            <a:stCxn id="14" idx="2"/>
            <a:endCxn id="5" idx="0"/>
          </p:cNvCxnSpPr>
          <p:nvPr/>
        </p:nvCxnSpPr>
        <p:spPr>
          <a:xfrm flipH="1">
            <a:off x="7728585" y="2108200"/>
            <a:ext cx="1607820" cy="120459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6" idx="0"/>
          </p:cNvCxnSpPr>
          <p:nvPr/>
        </p:nvCxnSpPr>
        <p:spPr>
          <a:xfrm>
            <a:off x="9342120" y="2106295"/>
            <a:ext cx="8255" cy="1206500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7" idx="0"/>
          </p:cNvCxnSpPr>
          <p:nvPr/>
        </p:nvCxnSpPr>
        <p:spPr>
          <a:xfrm>
            <a:off x="9342120" y="2115820"/>
            <a:ext cx="1630045" cy="1196975"/>
          </a:xfrm>
          <a:prstGeom prst="straightConnector1">
            <a:avLst/>
          </a:prstGeom>
          <a:ln w="28575" cap="rnd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环境准备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365" y="1236345"/>
            <a:ext cx="9653905" cy="52463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345815" y="1513840"/>
            <a:ext cx="956945" cy="346075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扣库存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345815" y="3824605"/>
            <a:ext cx="956945" cy="346075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下订单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620000" y="2651760"/>
            <a:ext cx="880110" cy="346075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采购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346835" y="5005705"/>
            <a:ext cx="956945" cy="346075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减余额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217660" y="1513840"/>
            <a:ext cx="1599565" cy="44069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导入微服务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217660" y="2211070"/>
            <a:ext cx="1599565" cy="44069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创建数据库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217660" y="2908300"/>
            <a:ext cx="1599565" cy="44069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测试本地接口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217660" y="3605530"/>
            <a:ext cx="1599565" cy="44069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完成业务链路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217660" y="4302760"/>
            <a:ext cx="1599565" cy="44069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测试事务问题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642985" y="4999990"/>
            <a:ext cx="2174240" cy="765810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引入</a:t>
            </a:r>
            <a:r>
              <a:rPr lang="en-US" altLang="zh-CN"/>
              <a:t>seata</a:t>
            </a:r>
            <a:endParaRPr lang="en-US" altLang="zh-CN"/>
          </a:p>
          <a:p>
            <a:pPr algn="ctr"/>
            <a:r>
              <a:rPr lang="zh-CN" altLang="en-US"/>
              <a:t>解决分布式事务</a:t>
            </a:r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原理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830" y="1509395"/>
            <a:ext cx="7703185" cy="42075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489950" y="1617345"/>
            <a:ext cx="305562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TC (Transaction Coordinator) - </a:t>
            </a:r>
            <a:r>
              <a:rPr lang="zh-CN" altLang="en-US">
                <a:solidFill>
                  <a:srgbClr val="FFC000"/>
                </a:solidFill>
              </a:rPr>
              <a:t>事务协调者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 sz="1400">
                <a:solidFill>
                  <a:srgbClr val="00B050"/>
                </a:solidFill>
              </a:rPr>
              <a:t>维护全局和分支事务的状态，驱动全局事务提交或回滚。</a:t>
            </a:r>
            <a:endParaRPr lang="zh-CN" altLang="en-US" sz="1400">
              <a:solidFill>
                <a:srgbClr val="00B05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89950" y="3119120"/>
            <a:ext cx="305562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TM (Transaction Manager) - </a:t>
            </a:r>
            <a:endParaRPr lang="en-US" altLang="zh-CN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FFC000"/>
                </a:solidFill>
              </a:rPr>
              <a:t>事务管理器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 sz="1400">
                <a:solidFill>
                  <a:srgbClr val="00B050"/>
                </a:solidFill>
              </a:rPr>
              <a:t>定义全局事务的范围：开始全局事务、提交或回滚全局事务。</a:t>
            </a:r>
            <a:endParaRPr lang="zh-CN" altLang="en-US" sz="1400">
              <a:solidFill>
                <a:srgbClr val="00B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89950" y="4620260"/>
            <a:ext cx="305562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RM (Resource Manager) - </a:t>
            </a:r>
            <a:r>
              <a:rPr lang="zh-CN" altLang="en-US">
                <a:solidFill>
                  <a:srgbClr val="FFC000"/>
                </a:solidFill>
              </a:rPr>
              <a:t>资源管理器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 sz="1400">
                <a:solidFill>
                  <a:srgbClr val="00B050"/>
                </a:solidFill>
              </a:rPr>
              <a:t>管理分支事务处理的资源，与</a:t>
            </a:r>
            <a:r>
              <a:rPr lang="en-US" altLang="zh-CN" sz="1400">
                <a:solidFill>
                  <a:srgbClr val="00B050"/>
                </a:solidFill>
              </a:rPr>
              <a:t>TC</a:t>
            </a:r>
            <a:r>
              <a:rPr lang="zh-CN" altLang="en-US" sz="1400">
                <a:solidFill>
                  <a:srgbClr val="00B050"/>
                </a:solidFill>
              </a:rPr>
              <a:t>交谈以注册分支事务和报告分支事务的状态，并驱动分支事务提交或回滚。</a:t>
            </a:r>
            <a:endParaRPr lang="zh-CN" altLang="en-US" sz="14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二阶提交协议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31940" y="2058035"/>
            <a:ext cx="2825750" cy="67056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en-US" altLang="zh-CN"/>
              <a:t>undo_log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844675" y="2058035"/>
            <a:ext cx="2825750" cy="67056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二阶提交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983355" y="3564890"/>
            <a:ext cx="2825750" cy="670560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l"/>
            <a:r>
              <a:rPr lang="zh-CN" altLang="en-US"/>
              <a:t>一阶：本地事务提交</a:t>
            </a:r>
            <a:endParaRPr lang="zh-CN" altLang="en-US"/>
          </a:p>
          <a:p>
            <a:pPr algn="l"/>
            <a:r>
              <a:rPr lang="zh-CN" altLang="en-US"/>
              <a:t>（业务数据</a:t>
            </a:r>
            <a:r>
              <a:rPr lang="en-US" altLang="zh-CN"/>
              <a:t> + undo_log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983355" y="4783455"/>
            <a:ext cx="5680075" cy="1110615"/>
          </a:xfrm>
          <a:prstGeom prst="rect">
            <a:avLst/>
          </a:prstGeom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l"/>
            <a:r>
              <a:rPr lang="zh-CN"/>
              <a:t>二阶：成功</a:t>
            </a:r>
            <a:r>
              <a:rPr lang="en-US" altLang="zh-CN"/>
              <a:t> + </a:t>
            </a:r>
            <a:r>
              <a:rPr lang="zh-CN" altLang="en-US"/>
              <a:t>失败</a:t>
            </a:r>
            <a:endParaRPr lang="zh-CN" altLang="en-US"/>
          </a:p>
          <a:p>
            <a:pPr algn="l"/>
            <a:r>
              <a:rPr lang="zh-CN" altLang="en-US"/>
              <a:t>成功：所有人删除</a:t>
            </a:r>
            <a:r>
              <a:rPr lang="en-US" altLang="zh-CN"/>
              <a:t>undo_log</a:t>
            </a:r>
            <a:endParaRPr lang="en-US" altLang="zh-CN"/>
          </a:p>
          <a:p>
            <a:pPr algn="l"/>
            <a:r>
              <a:rPr lang="zh-CN" altLang="en-US"/>
              <a:t>失败：所有人拿到自己的前镜像，恢复，删除</a:t>
            </a:r>
            <a:r>
              <a:rPr lang="en-US" altLang="zh-CN"/>
              <a:t>undo_log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8077835" y="3753485"/>
            <a:ext cx="2509520" cy="412115"/>
          </a:xfrm>
          <a:prstGeom prst="rect">
            <a:avLst/>
          </a:prstGeom>
          <a:solidFill>
            <a:schemeClr val="accent2"/>
          </a:solidFill>
          <a:ln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/>
              <a:t>全局锁（数据级别）</a:t>
            </a:r>
            <a:endParaRPr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undo_log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7390" y="1909445"/>
            <a:ext cx="4130040" cy="40538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1909445"/>
            <a:ext cx="4099560" cy="37795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49_1*l_h_i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5952146515136,&quot;left&quot;:57.775039370078744,&quot;top&quot;:111.73016357421875,&quot;width&quot;:844.45212598425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49_1*l_h_i*1_2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5952146515136,&quot;left&quot;:57.775039370078744,&quot;top&quot;:111.73016357421875,&quot;width&quot;:844.45212598425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05000000074505806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49_1*l_h_f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5952146515136,&quot;left&quot;:57.775039370078744,&quot;top&quot;:111.73016357421875,&quot;width&quot;:844.45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FILL_TYPE" val="1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49_1*l_h_f*1_2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5952146515136,&quot;left&quot;:57.775039370078744,&quot;top&quot;:111.73016357421875,&quot;width&quot;:844.45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249_1*l_h_a*1_1_1"/>
  <p:tag name="KSO_WM_TEMPLATE_CATEGORY" val="diagram"/>
  <p:tag name="KSO_WM_TEMPLATE_INDEX" val="2023324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FILL_TYPE" val="1"/>
  <p:tag name="KSO_WM_DIAGRAM_MAX_ITEMCNT" val="2"/>
  <p:tag name="KSO_WM_DIAGRAM_MIN_ITEMCNT" val="2"/>
  <p:tag name="KSO_WM_DIAGRAM_VIRTUALLY_FRAME" val="{&quot;height&quot;:388.55952146515136,&quot;left&quot;:57.775039370078744,&quot;top&quot;:111.73016357421875,&quot;width&quot;:844.45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添加标题"/>
  <p:tag name="KSO_WM_UNIT_TEXT_TYPE" val="1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249_1*l_h_a*1_2_1"/>
  <p:tag name="KSO_WM_TEMPLATE_CATEGORY" val="diagram"/>
  <p:tag name="KSO_WM_TEMPLATE_INDEX" val="2023324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388.55952146515136,&quot;left&quot;:57.775039370078744,&quot;top&quot;:111.73016357421875,&quot;width&quot;:844.45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TABLE_ENDDRAG_ORIGIN_RECT" val="879*229"/>
  <p:tag name="TABLE_ENDDRAG_RECT" val="49*120*879*229"/>
</p:tagLst>
</file>

<file path=ppt/tags/tag8.xml><?xml version="1.0" encoding="utf-8"?>
<p:tagLst xmlns:p="http://schemas.openxmlformats.org/presentationml/2006/main">
  <p:tag name="TABLE_ENDDRAG_ORIGIN_RECT" val="879*229"/>
  <p:tag name="TABLE_ENDDRAG_RECT" val="49*120*879*229"/>
</p:tagLst>
</file>

<file path=ppt/tags/tag9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0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1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2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3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4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5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6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7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8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19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20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21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22.xml><?xml version="1.0" encoding="utf-8"?>
<p:tagLst xmlns:p="http://schemas.openxmlformats.org/presentationml/2006/main">
  <p:tag name="KSO_WM_DIAGRAM_VIRTUALLY_FRAME" val="{&quot;height&quot;:270.15,&quot;left&quot;:101.35,&quot;top&quot;:153.75,&quot;width&quot;:479.4}"/>
</p:tagLst>
</file>

<file path=ppt/tags/tag23.xml><?xml version="1.0" encoding="utf-8"?>
<p:tagLst xmlns:p="http://schemas.openxmlformats.org/presentationml/2006/main">
  <p:tag name="TABLE_ENDDRAG_ORIGIN_RECT" val="879*229"/>
  <p:tag name="TABLE_ENDDRAG_RECT" val="49*120*879*229"/>
</p:tagLst>
</file>

<file path=ppt/tags/tag24.xml><?xml version="1.0" encoding="utf-8"?>
<p:tagLst xmlns:p="http://schemas.openxmlformats.org/presentationml/2006/main">
  <p:tag name="TABLE_ENDDRAG_ORIGIN_RECT" val="479*243"/>
  <p:tag name="TABLE_ENDDRAG_RECT" val="144*150*479*243"/>
</p:tagLst>
</file>

<file path=ppt/tags/tag25.xml><?xml version="1.0" encoding="utf-8"?>
<p:tagLst xmlns:p="http://schemas.openxmlformats.org/presentationml/2006/main">
  <p:tag name="ISLIDE.GUIDESSETTING" val="{&quot;Id&quot;:&quot;GuidesStyle_Narrow&quot;,&quot;Name&quot;:&quot;GuidesStyle_Narrow&quot;,&quot;Kind&quot;:0,&quot;OldGuidesSetting&quot;:{&quot;HeaderHeight&quot;:10.0,&quot;FooterHeight&quot;:5.0,&quot;SideMargin&quot;:2.5,&quot;TopMargin&quot;:0.0,&quot;BottomMargin&quot;:0.0,&quot;IntervalMargin&quot;:1.0}}"/>
  <p:tag name="COMMONDATA" val="eyJoZGlkIjoiNjQ1NWJkZTc5YTQ2ZDg1MDViNjY5OGRkM2Q1N2FjNjcifQ=="/>
  <p:tag name="resource_record_key" val="{&quot;10&quot;:[21558776,3634512,21588352,21571674],&quot;70&quot;:[3322427]}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D1128"/>
      </a:accent1>
      <a:accent2>
        <a:srgbClr val="5941A9"/>
      </a:accent2>
      <a:accent3>
        <a:srgbClr val="6D72C3"/>
      </a:accent3>
      <a:accent4>
        <a:srgbClr val="514F59"/>
      </a:accent4>
      <a:accent5>
        <a:srgbClr val="E5D4ED"/>
      </a:accent5>
      <a:accent6>
        <a:srgbClr val="E8E8E8"/>
      </a:accent6>
      <a:hlink>
        <a:srgbClr val="F84D4D"/>
      </a:hlink>
      <a:folHlink>
        <a:srgbClr val="BFBFBF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tailEnd type="none" w="med" len="med"/>
        </a:ln>
      </a:spPr>
      <a:bodyPr anchor="ctr" anchorCtr="0"/>
      <a:lstStyle>
        <a:defPPr algn="ctr">
          <a:defRPr lang="zh-CN" altLang="en-US"/>
        </a:defPPr>
      </a:lstStyle>
      <a:style>
        <a:lnRef idx="2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28575" cap="rnd" cmpd="sng">
          <a:solidFill>
            <a:schemeClr val="bg1"/>
          </a:solidFill>
          <a:prstDash val="solid"/>
          <a:tailEnd type="none"/>
        </a:ln>
      </a:spPr>
      <a:bodyPr/>
      <a:lstStyle/>
      <a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9165</Words>
  <Application>WPS 演示</Application>
  <PresentationFormat>宽屏</PresentationFormat>
  <Paragraphs>1384</Paragraphs>
  <Slides>71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2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-apple-system</vt:lpstr>
      <vt:lpstr>语文格子</vt:lpstr>
      <vt:lpstr>华文行楷</vt:lpstr>
      <vt:lpstr>WPS</vt:lpstr>
      <vt:lpstr> Spring Cloud 快速通关</vt:lpstr>
      <vt:lpstr>课程内容</vt:lpstr>
      <vt:lpstr>课程特色</vt:lpstr>
      <vt:lpstr>1.  分布式基础</vt:lpstr>
      <vt:lpstr>架构演进 - 核心概念</vt:lpstr>
      <vt:lpstr>环境准备</vt:lpstr>
      <vt:lpstr>版本选择</vt:lpstr>
      <vt:lpstr>2. Nacos</vt:lpstr>
      <vt:lpstr>注册中心</vt:lpstr>
      <vt:lpstr>Nacos安装</vt:lpstr>
      <vt:lpstr>注册中心 - 服务注册</vt:lpstr>
      <vt:lpstr>注册中心 - 服务发现</vt:lpstr>
      <vt:lpstr>远程调用 - 基本流程</vt:lpstr>
      <vt:lpstr>远程调用 - 下单场景</vt:lpstr>
      <vt:lpstr>远程调用 - 实现步骤</vt:lpstr>
      <vt:lpstr>远程调用 - 面试题</vt:lpstr>
      <vt:lpstr>配置中心</vt:lpstr>
      <vt:lpstr>配置中心 - 基本使用</vt:lpstr>
      <vt:lpstr>配置中心 -  动态刷新</vt:lpstr>
      <vt:lpstr>配置中心 -  数据隔离</vt:lpstr>
      <vt:lpstr>配置中心 -  数据隔离</vt:lpstr>
      <vt:lpstr>配置中心 -  数据隔离</vt:lpstr>
      <vt:lpstr>总结</vt:lpstr>
      <vt:lpstr>3. OpenFeign</vt:lpstr>
      <vt:lpstr>Declarative REST Client</vt:lpstr>
      <vt:lpstr>远程调用 - 业务API</vt:lpstr>
      <vt:lpstr>远程调用 - 第三方API</vt:lpstr>
      <vt:lpstr>PowerPoint 演示文稿</vt:lpstr>
      <vt:lpstr>PowerPoint 演示文稿</vt:lpstr>
      <vt:lpstr>进阶用法 - 日志</vt:lpstr>
      <vt:lpstr>进阶用法 - 超时控制</vt:lpstr>
      <vt:lpstr>进阶用法 - 超时控制</vt:lpstr>
      <vt:lpstr>进阶用法 - 重试机制</vt:lpstr>
      <vt:lpstr>进阶用法 - 拦截器</vt:lpstr>
      <vt:lpstr>进阶用法 - Fallback</vt:lpstr>
      <vt:lpstr>OpenFeign - 总结</vt:lpstr>
      <vt:lpstr>4. Sentinel</vt:lpstr>
      <vt:lpstr>功能介绍</vt:lpstr>
      <vt:lpstr>架构原理</vt:lpstr>
      <vt:lpstr>资源&amp;规则</vt:lpstr>
      <vt:lpstr>工作原理</vt:lpstr>
      <vt:lpstr>整合使用</vt:lpstr>
      <vt:lpstr>异常处理</vt:lpstr>
      <vt:lpstr>规则 - 流量控制（FlowRule）</vt:lpstr>
      <vt:lpstr>规则 - 流量控制（FlowRule）</vt:lpstr>
      <vt:lpstr>规则 - 流量控制（FlowRule）</vt:lpstr>
      <vt:lpstr>规则 - 流量控制（FlowRule）- 阈值类型 </vt:lpstr>
      <vt:lpstr>规则 - 流量控制（FlowRule）- 流控模式 </vt:lpstr>
      <vt:lpstr>规则 - 流量控制（FlowRule）- 流控效果</vt:lpstr>
      <vt:lpstr>规则 - 流量控制（FlowRule）- 流控效果</vt:lpstr>
      <vt:lpstr>规则 - 熔断降级（DegradeRule）</vt:lpstr>
      <vt:lpstr>规则 - 熔断降级</vt:lpstr>
      <vt:lpstr>规则 - 熔断降级</vt:lpstr>
      <vt:lpstr>规则 - 熔断降级</vt:lpstr>
      <vt:lpstr>规则 - 热点参数</vt:lpstr>
      <vt:lpstr>规则 - 热点参数</vt:lpstr>
      <vt:lpstr>5. Gateway</vt:lpstr>
      <vt:lpstr>功能</vt:lpstr>
      <vt:lpstr>Spring Cloud Gateway</vt:lpstr>
      <vt:lpstr>需求</vt:lpstr>
      <vt:lpstr>基础原理</vt:lpstr>
      <vt:lpstr>Predicate - 断言</vt:lpstr>
      <vt:lpstr>Filter - 过滤器</vt:lpstr>
      <vt:lpstr>路径重写 - rewirtePath</vt:lpstr>
      <vt:lpstr>面试题</vt:lpstr>
      <vt:lpstr>6. Seata</vt:lpstr>
      <vt:lpstr>产生原因</vt:lpstr>
      <vt:lpstr>环境准备</vt:lpstr>
      <vt:lpstr>原理</vt:lpstr>
      <vt:lpstr>二阶提交协议</vt:lpstr>
      <vt:lpstr>undo_log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Docker快速上手</dc:title>
  <dc:creator>lfy</dc:creator>
  <cp:lastModifiedBy>雷丰阳</cp:lastModifiedBy>
  <cp:revision>4056</cp:revision>
  <dcterms:created xsi:type="dcterms:W3CDTF">2023-08-09T12:44:00Z</dcterms:created>
  <dcterms:modified xsi:type="dcterms:W3CDTF">2025-08-25T14:03:11Z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5267FF18DD8A465CAB7B01EF66F52F66_13</vt:lpwstr>
  </property>
  <property fmtid="{D5CDD505-2E9C-101B-9397-08002B2CF9AE}" pid="3" name="KSOProductBuildVer">
    <vt:lpwstr>2052-12.1.0.22529</vt:lpwstr>
  </property>
</Properties>
</file>